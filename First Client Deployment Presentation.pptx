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Karla Light"/>
      <p:regular r:id="rId20"/>
      <p:bold r:id="rId21"/>
      <p:italic r:id="rId22"/>
      <p:boldItalic r:id="rId23"/>
    </p:embeddedFont>
    <p:embeddedFont>
      <p:font typeface="Rajdhani"/>
      <p:regular r:id="rId24"/>
      <p:bold r:id="rId25"/>
    </p:embeddedFont>
    <p:embeddedFont>
      <p:font typeface="Karla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2" name="Jeslyn Bowman"/>
  <p:cmAuthor clrIdx="1" id="1" initials="" lastIdx="3" name="Cat Kim"/>
  <p:cmAuthor clrIdx="2" id="2" initials="" lastIdx="2" name="Eve Bowyer"/>
  <p:cmAuthor clrIdx="3" id="3" initials="" lastIdx="1" name="Samiksha Ave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68DF69-A8FE-4F34-BF77-8E0B2E2384DE}">
  <a:tblStyle styleId="{4A68DF69-A8FE-4F34-BF77-8E0B2E2384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Light-regular.fntdata"/><Relationship Id="rId22" Type="http://schemas.openxmlformats.org/officeDocument/2006/relationships/font" Target="fonts/KarlaLight-italic.fntdata"/><Relationship Id="rId21" Type="http://schemas.openxmlformats.org/officeDocument/2006/relationships/font" Target="fonts/KarlaLight-bold.fntdata"/><Relationship Id="rId24" Type="http://schemas.openxmlformats.org/officeDocument/2006/relationships/font" Target="fonts/Rajdhani-regular.fntdata"/><Relationship Id="rId23" Type="http://schemas.openxmlformats.org/officeDocument/2006/relationships/font" Target="fonts/Karla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Karla-regular.fntdata"/><Relationship Id="rId25" Type="http://schemas.openxmlformats.org/officeDocument/2006/relationships/font" Target="fonts/Rajdhani-bold.fntdata"/><Relationship Id="rId28" Type="http://schemas.openxmlformats.org/officeDocument/2006/relationships/font" Target="fonts/Karla-italic.fntdata"/><Relationship Id="rId27" Type="http://schemas.openxmlformats.org/officeDocument/2006/relationships/font" Target="fonts/Karla-bold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font" Target="fonts/Karla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9-10T03:19:29.006">
    <p:pos x="6000" y="0"/>
    <p:text>Bass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09-10T03:19:32.074">
    <p:pos x="6000" y="0"/>
    <p:text>Bass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5-09-10T03:13:29.026">
    <p:pos x="6000" y="0"/>
    <p:text>Everyone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5-09-11T02:44:59.103">
    <p:pos x="6000" y="0"/>
    <p:text>Cat</p:text>
  </p:cm>
  <p:cm authorId="1" idx="1" dt="2025-09-10T09:28:44.808">
    <p:pos x="6000" y="0"/>
    <p:text>Do you think we need this slide? Since the clients are the one who created the project, idk if this one might be a bit redundant?</p:text>
  </p:cm>
  <p:cm authorId="2" idx="1" dt="2025-09-10T10:08:31.025">
    <p:pos x="6000" y="0"/>
    <p:text>We could edit it so that it's just showing our goals for the project or something? Or a brief overview without scope/stakeholders if that makes sense</p:text>
  </p:cm>
  <p:cm authorId="1" idx="2" dt="2025-09-10T10:17:14.777">
    <p:pos x="6000" y="0"/>
    <p:text>I think that’s a good idea, maybe focusing on our current objectives and what we’ve achieved so far (so progress overview rather than project?)</p:text>
  </p:cm>
  <p:cm authorId="1" idx="3" dt="2025-09-10T10:18:26.242">
    <p:pos x="6000" y="0"/>
    <p:text>If we like that idea, I’ll get started on a refined version of that slide :)</p:text>
  </p:cm>
  <p:cm authorId="2" idx="2" dt="2025-09-10T10:24:32.415">
    <p:pos x="6000" y="0"/>
    <p:text>Ye we can make it like a very brief overview since we go ovr the uncovered user stories in the next slides</p:text>
  </p:cm>
  <p:cm authorId="0" idx="5" dt="2025-09-11T02:44:59.103">
    <p:pos x="6000" y="0"/>
    <p:text>Sounds good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5-09-16T11:23:08.720">
    <p:pos x="6000" y="0"/>
    <p:text>Jeslyn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5-09-10T03:14:28.690">
    <p:pos x="6000" y="0"/>
    <p:text>Eve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5-09-10T03:17:45.362">
    <p:pos x="6000" y="0"/>
    <p:text>Bass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5-09-10T03:13:56.894">
    <p:pos x="6000" y="0"/>
    <p:text>Destinee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5-09-10T03:17:57.525">
    <p:pos x="6000" y="0"/>
    <p:text>David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5-09-10T03:19:05.670">
    <p:pos x="6000" y="0"/>
    <p:text>Sam</p:tex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3" idx="1" dt="2025-09-16T02:49:54.970">
    <p:pos x="401" y="68"/>
    <p:text>Bass</p:tex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5-09-10T03:14:03.573">
    <p:pos x="6000" y="0"/>
    <p:text>David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50d84936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750d84936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7d6048a8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7d6048a8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79fad25d0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79fad25d0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3 roles: 1, 2,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name and name is in the team 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4fdc18765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4fdc18765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Deliverables completed: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Level design + 3D modelling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Created realistic human patient model with arm extended for syringe insertion. Modelled the pressure points to distinguish correct injection locations for simulation.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Acquired 3D doctor’s room model and refactored scene elements. Integrated various lighting features to enhance user experience and overall immersion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Patient breathing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Built accurate breathing animation for human model; allows for realistic injection practice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Scene and device integration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Integrated all scene elements (room + human) and configured both devices to function correctly in Unity.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Technical documentation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Keeping track of software and hardware requirements in github wiki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Creative commons licencing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User stories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Google drive + meeting minutes contains error logs/fixes that were experienced in device testing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Works in progress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Accurate force feedback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 Moved onto configuring Unity rigidbodies to provide accurate force feedback to the Inverse 3.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Testing smoothing scripts and exponential calculations to stop inverse 3 jitters using interpolation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3 key materials to detect: skin, vein, muscle - force calculations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Meta Quest 3 </a:t>
            </a:r>
            <a:r>
              <a:rPr lang="en">
                <a:solidFill>
                  <a:schemeClr val="dk1"/>
                </a:solidFill>
              </a:rPr>
              <a:t>syncing</a:t>
            </a:r>
            <a:r>
              <a:rPr lang="en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Trialled with paper 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Rough design ideas for headset hanger centred on Inverse 3 clamp -&gt; 3D print?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Velcro / felt for protection + stability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Stretch goal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If feeling ambitious -&gt; simulate the desired arm-tissue syringe insertion scenario with accurate haptic resistance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50d84936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750d84936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FUNCTIONAL: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Integrate Unity VR application with Inverse3 haptic device and Meta Quest 3 headset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Enable real-time haptic feedback for interactions (&lt;50ms latency)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Implement at least three distinct material profiles with different tactile sensations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Develop syringe insertion and blood draw simulation with realistic resistance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Deliver technical documentation: API integration, developer setup, user guide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NON-FUNCTIONAL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Performance: Maintain latency under 50ms and stable frame rates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Accuracy &amp; realism: Haptic feedback must match real-world tissue properties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Reliability: Application runs stably on desktop VR setup without desynchronisation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Usability: Users can reliably distinguish material profiles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Scalability: System supports future feature expansion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63b039435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763b039435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7ce7d9de8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7ce7d9de8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Limitation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Project is limited to desktop VR setup + Meta Quest 3 headset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Only the Inverse3 haptic device is supported (no other haptic devices)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/ SDK Constraints: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Must use Unity engine for VR simulation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Integration relies on Meta Quest SDK and Inverse3 SDK/API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Limited to features provided by these SDKs -&gt; cannot extend beyond supported APIs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Performance Boundaries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End-to-end latency must stay under 50ms for haptic and VR feedback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Limited by the processing power of the desktop and Unity’s real-time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All milestones and deliverables must be completed within the 12-week schedule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48acbf5a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48acbf5a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Unit and Integration Testing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Verify Unity scripts, Inverse3 SDK, and VR headset work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Functional Testing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Check material profiles, syringe insertion, and blood draw simulation for realistic haptic feedback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Performance Testing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Ensure latency &lt;50ms, stable frame rates, no desynchronisation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User Testing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Trials with participants to evaluate accuracy and realism of material identification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9fad25d0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79fad25d0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steps going forward are: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Tweaking the </a:t>
            </a:r>
            <a:r>
              <a:rPr lang="en"/>
              <a:t>haptic experience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Doing user testing on the material feedback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Synchronising</a:t>
            </a:r>
            <a:r>
              <a:rPr lang="en"/>
              <a:t> the Inverse3’s cursor position with the Meta Quest 3 using a headset hook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As was previously mentioned, we’ve had some issues with customising Mixamo’s animations, so we’re going back and creating our own custom animations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Adding in UI warnings for </a:t>
            </a:r>
            <a:r>
              <a:rPr lang="en"/>
              <a:t>moving</a:t>
            </a:r>
            <a:r>
              <a:rPr lang="en"/>
              <a:t> the Inverse3 or the Meta Quest 3 too far away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We’re also looking to add audio cues to the simulation to assist the user in giving correct injections.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7a17a6405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7a17a6405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project has many potential risks, these include: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Calibration and realism of the haptic feedback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Unity and Inverse3 API integration difficulties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Latency/performance issues in haptic feedback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Limited device access for testing and development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Stretch goal feasibility within timeframe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System crashes or instability during demos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Unrealistic material feedback leading to poor user experience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7e2a8a5b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7e2a8a5b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0d84936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750d84936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860350"/>
            <a:ext cx="4535700" cy="30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80" y="3890775"/>
            <a:ext cx="45357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8735265" y="8546"/>
            <a:ext cx="325785" cy="6140807"/>
            <a:chOff x="270152" y="9537"/>
            <a:chExt cx="273654" cy="51581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270152" y="9537"/>
              <a:ext cx="273654" cy="393837"/>
              <a:chOff x="274914" y="8562"/>
              <a:chExt cx="273654" cy="393837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" name="Google Shape;15;p2"/>
            <p:cNvCxnSpPr/>
            <p:nvPr/>
          </p:nvCxnSpPr>
          <p:spPr>
            <a:xfrm rot="10800000">
              <a:off x="407094" y="414212"/>
              <a:ext cx="0" cy="4753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" name="Google Shape;16;p2"/>
          <p:cNvGrpSpPr/>
          <p:nvPr/>
        </p:nvGrpSpPr>
        <p:grpSpPr>
          <a:xfrm>
            <a:off x="-874375" y="896703"/>
            <a:ext cx="9462060" cy="4329256"/>
            <a:chOff x="-318125" y="820503"/>
            <a:chExt cx="9462060" cy="4329256"/>
          </a:xfrm>
        </p:grpSpPr>
        <p:cxnSp>
          <p:nvCxnSpPr>
            <p:cNvPr id="17" name="Google Shape;17;p2"/>
            <p:cNvCxnSpPr/>
            <p:nvPr/>
          </p:nvCxnSpPr>
          <p:spPr>
            <a:xfrm>
              <a:off x="826250" y="1215072"/>
              <a:ext cx="0" cy="3162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" name="Google Shape;18;p2"/>
            <p:cNvSpPr/>
            <p:nvPr/>
          </p:nvSpPr>
          <p:spPr>
            <a:xfrm flipH="1" rot="-5400000">
              <a:off x="247218" y="657535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" name="Google Shape;19;p2"/>
            <p:cNvCxnSpPr/>
            <p:nvPr/>
          </p:nvCxnSpPr>
          <p:spPr>
            <a:xfrm>
              <a:off x="-95525" y="598647"/>
              <a:ext cx="0" cy="445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" name="Google Shape;20;p2"/>
            <p:cNvGrpSpPr/>
            <p:nvPr/>
          </p:nvGrpSpPr>
          <p:grpSpPr>
            <a:xfrm>
              <a:off x="826293" y="3991810"/>
              <a:ext cx="8317642" cy="1157950"/>
              <a:chOff x="826293" y="3991810"/>
              <a:chExt cx="8317642" cy="1157950"/>
            </a:xfrm>
          </p:grpSpPr>
          <p:grpSp>
            <p:nvGrpSpPr>
              <p:cNvPr id="21" name="Google Shape;21;p2"/>
              <p:cNvGrpSpPr/>
              <p:nvPr/>
            </p:nvGrpSpPr>
            <p:grpSpPr>
              <a:xfrm rot="5400000">
                <a:off x="4980466" y="986290"/>
                <a:ext cx="416007" cy="7910933"/>
                <a:chOff x="4156006" y="4045647"/>
                <a:chExt cx="416007" cy="9149818"/>
              </a:xfrm>
            </p:grpSpPr>
            <p:sp>
              <p:nvSpPr>
                <p:cNvPr id="22" name="Google Shape;22;p2"/>
                <p:cNvSpPr/>
                <p:nvPr/>
              </p:nvSpPr>
              <p:spPr>
                <a:xfrm flipH="1" rot="10800000">
                  <a:off x="4156006" y="4045647"/>
                  <a:ext cx="416007" cy="741943"/>
                </a:xfrm>
                <a:custGeom>
                  <a:rect b="b" l="l" r="r" t="t"/>
                  <a:pathLst>
                    <a:path extrusionOk="0" fill="none" h="27160" w="16217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cap="rnd" cmpd="sng" w="28575">
                  <a:solidFill>
                    <a:schemeClr val="dk1"/>
                  </a:solidFill>
                  <a:prstDash val="solid"/>
                  <a:miter lim="20923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3" name="Google Shape;23;p2"/>
                <p:cNvCxnSpPr/>
                <p:nvPr/>
              </p:nvCxnSpPr>
              <p:spPr>
                <a:xfrm rot="5400000">
                  <a:off x="-68600" y="8970116"/>
                  <a:ext cx="84507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4" name="Google Shape;24;p2"/>
              <p:cNvSpPr/>
              <p:nvPr/>
            </p:nvSpPr>
            <p:spPr>
              <a:xfrm>
                <a:off x="826293" y="3991810"/>
                <a:ext cx="416007" cy="741943"/>
              </a:xfrm>
              <a:custGeom>
                <a:rect b="b" l="l" r="r" t="t"/>
                <a:pathLst>
                  <a:path extrusionOk="0" fill="none" h="27160" w="16217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cap="rnd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" name="Google Shape;25;p2"/>
          <p:cNvGrpSpPr/>
          <p:nvPr/>
        </p:nvGrpSpPr>
        <p:grpSpPr>
          <a:xfrm>
            <a:off x="-125354" y="-484012"/>
            <a:ext cx="4732500" cy="828092"/>
            <a:chOff x="-2152704" y="-183271"/>
            <a:chExt cx="4732500" cy="828092"/>
          </a:xfrm>
        </p:grpSpPr>
        <p:sp>
          <p:nvSpPr>
            <p:cNvPr id="26" name="Google Shape;26;p2"/>
            <p:cNvSpPr/>
            <p:nvPr/>
          </p:nvSpPr>
          <p:spPr>
            <a:xfrm rot="-5400000">
              <a:off x="2000034" y="65846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" name="Google Shape;27;p2"/>
            <p:cNvCxnSpPr/>
            <p:nvPr/>
          </p:nvCxnSpPr>
          <p:spPr>
            <a:xfrm rot="-5400000">
              <a:off x="2354346" y="42179"/>
              <a:ext cx="45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 rot="10800000">
              <a:off x="-2152704" y="644816"/>
              <a:ext cx="4026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>
            <p:ph type="title"/>
          </p:nvPr>
        </p:nvSpPr>
        <p:spPr>
          <a:xfrm>
            <a:off x="1940675" y="2571750"/>
            <a:ext cx="5262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" name="Google Shape;31;p3"/>
          <p:cNvSpPr txBox="1"/>
          <p:nvPr>
            <p:ph idx="1" type="subTitle"/>
          </p:nvPr>
        </p:nvSpPr>
        <p:spPr>
          <a:xfrm>
            <a:off x="1860800" y="3444025"/>
            <a:ext cx="5422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2" name="Google Shape;32;p3"/>
          <p:cNvCxnSpPr/>
          <p:nvPr/>
        </p:nvCxnSpPr>
        <p:spPr>
          <a:xfrm>
            <a:off x="-39950" y="4625657"/>
            <a:ext cx="920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" name="Google Shape;33;p3"/>
          <p:cNvSpPr/>
          <p:nvPr/>
        </p:nvSpPr>
        <p:spPr>
          <a:xfrm>
            <a:off x="7421447" y="-6"/>
            <a:ext cx="1739640" cy="1144380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 flipH="1">
            <a:off x="-11418" y="-6"/>
            <a:ext cx="1739640" cy="1144380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-37000" y="4743850"/>
            <a:ext cx="9188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idx="1" type="body"/>
          </p:nvPr>
        </p:nvSpPr>
        <p:spPr>
          <a:xfrm>
            <a:off x="708250" y="1291149"/>
            <a:ext cx="7728000" cy="29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712700" y="365750"/>
            <a:ext cx="77187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9" name="Google Shape;39;p4"/>
          <p:cNvGrpSpPr/>
          <p:nvPr/>
        </p:nvGrpSpPr>
        <p:grpSpPr>
          <a:xfrm flipH="1">
            <a:off x="-7590769" y="-338875"/>
            <a:ext cx="8739369" cy="742000"/>
            <a:chOff x="410231" y="402400"/>
            <a:chExt cx="8739369" cy="742000"/>
          </a:xfrm>
        </p:grpSpPr>
        <p:cxnSp>
          <p:nvCxnSpPr>
            <p:cNvPr id="40" name="Google Shape;40;p4"/>
            <p:cNvCxnSpPr/>
            <p:nvPr/>
          </p:nvCxnSpPr>
          <p:spPr>
            <a:xfrm>
              <a:off x="804800" y="1144400"/>
              <a:ext cx="8344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1" name="Google Shape;41;p4"/>
            <p:cNvSpPr/>
            <p:nvPr/>
          </p:nvSpPr>
          <p:spPr>
            <a:xfrm>
              <a:off x="410231" y="402400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2" name="Google Shape;42;p4"/>
          <p:cNvCxnSpPr/>
          <p:nvPr/>
        </p:nvCxnSpPr>
        <p:spPr>
          <a:xfrm>
            <a:off x="-39950" y="4873752"/>
            <a:ext cx="920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" name="Google Shape;43;p4"/>
          <p:cNvCxnSpPr/>
          <p:nvPr/>
        </p:nvCxnSpPr>
        <p:spPr>
          <a:xfrm>
            <a:off x="-39950" y="4625657"/>
            <a:ext cx="920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" name="Google Shape;44;p4"/>
          <p:cNvSpPr/>
          <p:nvPr/>
        </p:nvSpPr>
        <p:spPr>
          <a:xfrm>
            <a:off x="-37000" y="4743850"/>
            <a:ext cx="9188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>
            <p:ph idx="1" type="body"/>
          </p:nvPr>
        </p:nvSpPr>
        <p:spPr>
          <a:xfrm>
            <a:off x="711950" y="1868125"/>
            <a:ext cx="3860100" cy="25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4701525" y="1788700"/>
            <a:ext cx="3204300" cy="2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8" name="Google Shape;48;p5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9" name="Google Shape;49;p5"/>
          <p:cNvGrpSpPr/>
          <p:nvPr/>
        </p:nvGrpSpPr>
        <p:grpSpPr>
          <a:xfrm rot="10800000">
            <a:off x="8284183" y="0"/>
            <a:ext cx="273654" cy="5158175"/>
            <a:chOff x="270152" y="9537"/>
            <a:chExt cx="273654" cy="5158175"/>
          </a:xfrm>
        </p:grpSpPr>
        <p:grpSp>
          <p:nvGrpSpPr>
            <p:cNvPr id="50" name="Google Shape;50;p5"/>
            <p:cNvGrpSpPr/>
            <p:nvPr/>
          </p:nvGrpSpPr>
          <p:grpSpPr>
            <a:xfrm>
              <a:off x="270152" y="9537"/>
              <a:ext cx="273654" cy="393837"/>
              <a:chOff x="274914" y="8562"/>
              <a:chExt cx="273654" cy="393837"/>
            </a:xfrm>
          </p:grpSpPr>
          <p:sp>
            <p:nvSpPr>
              <p:cNvPr id="51" name="Google Shape;51;p5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accen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5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accen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53" name="Google Shape;53;p5"/>
            <p:cNvCxnSpPr/>
            <p:nvPr/>
          </p:nvCxnSpPr>
          <p:spPr>
            <a:xfrm rot="10800000">
              <a:off x="407094" y="414212"/>
              <a:ext cx="0" cy="4753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4" name="Google Shape;54;p5"/>
          <p:cNvGrpSpPr/>
          <p:nvPr/>
        </p:nvGrpSpPr>
        <p:grpSpPr>
          <a:xfrm>
            <a:off x="538260" y="-66750"/>
            <a:ext cx="338976" cy="1328735"/>
            <a:chOff x="628195" y="-66750"/>
            <a:chExt cx="338976" cy="1328735"/>
          </a:xfrm>
        </p:grpSpPr>
        <p:grpSp>
          <p:nvGrpSpPr>
            <p:cNvPr id="55" name="Google Shape;55;p5"/>
            <p:cNvGrpSpPr/>
            <p:nvPr/>
          </p:nvGrpSpPr>
          <p:grpSpPr>
            <a:xfrm>
              <a:off x="628195" y="768506"/>
              <a:ext cx="338976" cy="493479"/>
              <a:chOff x="1168550" y="1865650"/>
              <a:chExt cx="566850" cy="825354"/>
            </a:xfrm>
          </p:grpSpPr>
          <p:sp>
            <p:nvSpPr>
              <p:cNvPr id="56" name="Google Shape;56;p5"/>
              <p:cNvSpPr/>
              <p:nvPr/>
            </p:nvSpPr>
            <p:spPr>
              <a:xfrm>
                <a:off x="1168550" y="2165899"/>
                <a:ext cx="494807" cy="525105"/>
              </a:xfrm>
              <a:custGeom>
                <a:rect b="b" l="l" r="r" t="t"/>
                <a:pathLst>
                  <a:path extrusionOk="0" h="13602" w="14062">
                    <a:moveTo>
                      <a:pt x="12934" y="0"/>
                    </a:moveTo>
                    <a:cubicBezTo>
                      <a:pt x="10702" y="0"/>
                      <a:pt x="7811" y="1769"/>
                      <a:pt x="5012" y="1769"/>
                    </a:cubicBezTo>
                    <a:cubicBezTo>
                      <a:pt x="4452" y="1769"/>
                      <a:pt x="3895" y="1699"/>
                      <a:pt x="3348" y="1528"/>
                    </a:cubicBezTo>
                    <a:cubicBezTo>
                      <a:pt x="2950" y="1400"/>
                      <a:pt x="2563" y="1344"/>
                      <a:pt x="2188" y="1344"/>
                    </a:cubicBezTo>
                    <a:cubicBezTo>
                      <a:pt x="1400" y="1344"/>
                      <a:pt x="667" y="1592"/>
                      <a:pt x="1" y="1947"/>
                    </a:cubicBezTo>
                    <a:lnTo>
                      <a:pt x="1" y="11342"/>
                    </a:lnTo>
                    <a:cubicBezTo>
                      <a:pt x="1" y="12597"/>
                      <a:pt x="1005" y="13601"/>
                      <a:pt x="2260" y="13601"/>
                    </a:cubicBezTo>
                    <a:lnTo>
                      <a:pt x="11802" y="13601"/>
                    </a:lnTo>
                    <a:cubicBezTo>
                      <a:pt x="13057" y="13601"/>
                      <a:pt x="14061" y="12597"/>
                      <a:pt x="14061" y="11342"/>
                    </a:cubicBezTo>
                    <a:lnTo>
                      <a:pt x="14061" y="189"/>
                    </a:lnTo>
                    <a:cubicBezTo>
                      <a:pt x="13709" y="57"/>
                      <a:pt x="13332" y="0"/>
                      <a:pt x="12934" y="0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1429625" y="1865650"/>
                <a:ext cx="125050" cy="84072"/>
              </a:xfrm>
              <a:custGeom>
                <a:rect b="b" l="l" r="r" t="t"/>
                <a:pathLst>
                  <a:path extrusionOk="0" fill="none" h="6320" w="5002">
                    <a:moveTo>
                      <a:pt x="5001" y="3160"/>
                    </a:moveTo>
                    <a:cubicBezTo>
                      <a:pt x="5001" y="4896"/>
                      <a:pt x="3892" y="6319"/>
                      <a:pt x="2511" y="6319"/>
                    </a:cubicBezTo>
                    <a:cubicBezTo>
                      <a:pt x="1130" y="6319"/>
                      <a:pt x="0" y="4896"/>
                      <a:pt x="0" y="3160"/>
                    </a:cubicBezTo>
                    <a:cubicBezTo>
                      <a:pt x="0" y="1423"/>
                      <a:pt x="1130" y="0"/>
                      <a:pt x="2511" y="0"/>
                    </a:cubicBezTo>
                    <a:cubicBezTo>
                      <a:pt x="3892" y="0"/>
                      <a:pt x="5001" y="1423"/>
                      <a:pt x="5001" y="3160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1248900" y="1949725"/>
                <a:ext cx="486500" cy="662250"/>
              </a:xfrm>
              <a:custGeom>
                <a:rect b="b" l="l" r="r" t="t"/>
                <a:pathLst>
                  <a:path extrusionOk="0" h="26490" w="19460">
                    <a:moveTo>
                      <a:pt x="0" y="0"/>
                    </a:moveTo>
                    <a:lnTo>
                      <a:pt x="0" y="24983"/>
                    </a:lnTo>
                    <a:cubicBezTo>
                      <a:pt x="0" y="25820"/>
                      <a:pt x="670" y="26490"/>
                      <a:pt x="1507" y="26490"/>
                    </a:cubicBezTo>
                    <a:lnTo>
                      <a:pt x="17953" y="26490"/>
                    </a:lnTo>
                    <a:cubicBezTo>
                      <a:pt x="18790" y="26490"/>
                      <a:pt x="19459" y="25820"/>
                      <a:pt x="19459" y="24983"/>
                    </a:cubicBezTo>
                    <a:lnTo>
                      <a:pt x="19459" y="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9" name="Google Shape;59;p5"/>
              <p:cNvGrpSpPr/>
              <p:nvPr/>
            </p:nvGrpSpPr>
            <p:grpSpPr>
              <a:xfrm>
                <a:off x="1405624" y="2301079"/>
                <a:ext cx="208705" cy="208705"/>
                <a:chOff x="1430400" y="2325825"/>
                <a:chExt cx="159050" cy="159050"/>
              </a:xfrm>
            </p:grpSpPr>
            <p:sp>
              <p:nvSpPr>
                <p:cNvPr id="60" name="Google Shape;60;p5"/>
                <p:cNvSpPr/>
                <p:nvPr/>
              </p:nvSpPr>
              <p:spPr>
                <a:xfrm>
                  <a:off x="1486900" y="2325825"/>
                  <a:ext cx="46575" cy="159050"/>
                </a:xfrm>
                <a:custGeom>
                  <a:rect b="b" l="l" r="r" t="t"/>
                  <a:pathLst>
                    <a:path extrusionOk="0" h="6362" w="1863">
                      <a:moveTo>
                        <a:pt x="1" y="0"/>
                      </a:moveTo>
                      <a:lnTo>
                        <a:pt x="1" y="6361"/>
                      </a:lnTo>
                      <a:lnTo>
                        <a:pt x="1863" y="6361"/>
                      </a:lnTo>
                      <a:lnTo>
                        <a:pt x="18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" name="Google Shape;61;p5"/>
                <p:cNvSpPr/>
                <p:nvPr/>
              </p:nvSpPr>
              <p:spPr>
                <a:xfrm>
                  <a:off x="1430400" y="2382325"/>
                  <a:ext cx="159050" cy="46575"/>
                </a:xfrm>
                <a:custGeom>
                  <a:rect b="b" l="l" r="r" t="t"/>
                  <a:pathLst>
                    <a:path extrusionOk="0" h="1863" w="6362">
                      <a:moveTo>
                        <a:pt x="1" y="0"/>
                      </a:moveTo>
                      <a:lnTo>
                        <a:pt x="1" y="1862"/>
                      </a:lnTo>
                      <a:lnTo>
                        <a:pt x="6362" y="1862"/>
                      </a:lnTo>
                      <a:lnTo>
                        <a:pt x="636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62" name="Google Shape;62;p5"/>
            <p:cNvCxnSpPr/>
            <p:nvPr/>
          </p:nvCxnSpPr>
          <p:spPr>
            <a:xfrm rot="10800000">
              <a:off x="821713" y="-66750"/>
              <a:ext cx="0" cy="827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title"/>
          </p:nvPr>
        </p:nvSpPr>
        <p:spPr>
          <a:xfrm>
            <a:off x="713275" y="365750"/>
            <a:ext cx="7717500" cy="15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5" name="Google Shape;65;p6"/>
          <p:cNvSpPr/>
          <p:nvPr/>
        </p:nvSpPr>
        <p:spPr>
          <a:xfrm flipH="1">
            <a:off x="8040709" y="4430148"/>
            <a:ext cx="1127845" cy="741937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rgbClr val="850707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" name="Google Shape;66;p6"/>
          <p:cNvCxnSpPr/>
          <p:nvPr/>
        </p:nvCxnSpPr>
        <p:spPr>
          <a:xfrm>
            <a:off x="1211500" y="410975"/>
            <a:ext cx="7938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6"/>
          <p:cNvSpPr/>
          <p:nvPr/>
        </p:nvSpPr>
        <p:spPr>
          <a:xfrm>
            <a:off x="827056" y="-331025"/>
            <a:ext cx="416007" cy="741943"/>
          </a:xfrm>
          <a:custGeom>
            <a:rect b="b" l="l" r="r" t="t"/>
            <a:pathLst>
              <a:path extrusionOk="0" fill="none" h="27160" w="16217">
                <a:moveTo>
                  <a:pt x="1" y="1"/>
                </a:moveTo>
                <a:lnTo>
                  <a:pt x="1" y="13475"/>
                </a:lnTo>
                <a:cubicBezTo>
                  <a:pt x="1" y="21029"/>
                  <a:pt x="6110" y="27159"/>
                  <a:pt x="13685" y="27159"/>
                </a:cubicBezTo>
                <a:lnTo>
                  <a:pt x="16216" y="27159"/>
                </a:lnTo>
              </a:path>
            </a:pathLst>
          </a:custGeom>
          <a:noFill/>
          <a:ln cap="rnd" cmpd="sng" w="28575">
            <a:solidFill>
              <a:schemeClr val="dk1"/>
            </a:solidFill>
            <a:prstDash val="solid"/>
            <a:miter lim="2092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 flipH="1" rot="5400000">
            <a:off x="-218066" y="4247148"/>
            <a:ext cx="1127845" cy="741937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rgbClr val="850707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7"/>
          <p:cNvGrpSpPr/>
          <p:nvPr/>
        </p:nvGrpSpPr>
        <p:grpSpPr>
          <a:xfrm>
            <a:off x="270152" y="9537"/>
            <a:ext cx="273654" cy="4751063"/>
            <a:chOff x="270152" y="9537"/>
            <a:chExt cx="273654" cy="4751063"/>
          </a:xfrm>
        </p:grpSpPr>
        <p:grpSp>
          <p:nvGrpSpPr>
            <p:cNvPr id="71" name="Google Shape;71;p7"/>
            <p:cNvGrpSpPr/>
            <p:nvPr/>
          </p:nvGrpSpPr>
          <p:grpSpPr>
            <a:xfrm>
              <a:off x="270152" y="9537"/>
              <a:ext cx="273654" cy="393837"/>
              <a:chOff x="274914" y="8562"/>
              <a:chExt cx="273654" cy="393837"/>
            </a:xfrm>
          </p:grpSpPr>
          <p:sp>
            <p:nvSpPr>
              <p:cNvPr id="72" name="Google Shape;72;p7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accen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7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accen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74" name="Google Shape;74;p7"/>
            <p:cNvCxnSpPr/>
            <p:nvPr/>
          </p:nvCxnSpPr>
          <p:spPr>
            <a:xfrm rot="10800000">
              <a:off x="407100" y="414200"/>
              <a:ext cx="0" cy="4346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924451" y="1568175"/>
            <a:ext cx="3142200" cy="16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841500" y="614900"/>
            <a:ext cx="3308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" name="Google Shape;77;p7"/>
          <p:cNvSpPr/>
          <p:nvPr/>
        </p:nvSpPr>
        <p:spPr>
          <a:xfrm>
            <a:off x="-11850" y="4736400"/>
            <a:ext cx="9167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8200" y="1198250"/>
            <a:ext cx="3241200" cy="27471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grpSp>
        <p:nvGrpSpPr>
          <p:cNvPr id="80" name="Google Shape;80;p8"/>
          <p:cNvGrpSpPr/>
          <p:nvPr/>
        </p:nvGrpSpPr>
        <p:grpSpPr>
          <a:xfrm>
            <a:off x="-318125" y="820503"/>
            <a:ext cx="9462060" cy="4329256"/>
            <a:chOff x="-318125" y="820503"/>
            <a:chExt cx="9462060" cy="4329256"/>
          </a:xfrm>
        </p:grpSpPr>
        <p:cxnSp>
          <p:nvCxnSpPr>
            <p:cNvPr id="81" name="Google Shape;81;p8"/>
            <p:cNvCxnSpPr/>
            <p:nvPr/>
          </p:nvCxnSpPr>
          <p:spPr>
            <a:xfrm>
              <a:off x="826250" y="1215072"/>
              <a:ext cx="0" cy="3162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" name="Google Shape;82;p8"/>
            <p:cNvSpPr/>
            <p:nvPr/>
          </p:nvSpPr>
          <p:spPr>
            <a:xfrm flipH="1" rot="-5400000">
              <a:off x="247218" y="657535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3" name="Google Shape;83;p8"/>
            <p:cNvCxnSpPr/>
            <p:nvPr/>
          </p:nvCxnSpPr>
          <p:spPr>
            <a:xfrm>
              <a:off x="-95525" y="598647"/>
              <a:ext cx="0" cy="445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4" name="Google Shape;84;p8"/>
            <p:cNvGrpSpPr/>
            <p:nvPr/>
          </p:nvGrpSpPr>
          <p:grpSpPr>
            <a:xfrm>
              <a:off x="826293" y="3991810"/>
              <a:ext cx="8317642" cy="1157950"/>
              <a:chOff x="826293" y="3991810"/>
              <a:chExt cx="8317642" cy="1157950"/>
            </a:xfrm>
          </p:grpSpPr>
          <p:grpSp>
            <p:nvGrpSpPr>
              <p:cNvPr id="85" name="Google Shape;85;p8"/>
              <p:cNvGrpSpPr/>
              <p:nvPr/>
            </p:nvGrpSpPr>
            <p:grpSpPr>
              <a:xfrm rot="5400000">
                <a:off x="4980466" y="986290"/>
                <a:ext cx="416007" cy="7910933"/>
                <a:chOff x="4156006" y="4045647"/>
                <a:chExt cx="416007" cy="9149818"/>
              </a:xfrm>
            </p:grpSpPr>
            <p:sp>
              <p:nvSpPr>
                <p:cNvPr id="86" name="Google Shape;86;p8"/>
                <p:cNvSpPr/>
                <p:nvPr/>
              </p:nvSpPr>
              <p:spPr>
                <a:xfrm flipH="1" rot="10800000">
                  <a:off x="4156006" y="4045647"/>
                  <a:ext cx="416007" cy="741943"/>
                </a:xfrm>
                <a:custGeom>
                  <a:rect b="b" l="l" r="r" t="t"/>
                  <a:pathLst>
                    <a:path extrusionOk="0" fill="none" h="27160" w="16217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cap="rnd" cmpd="sng" w="28575">
                  <a:solidFill>
                    <a:schemeClr val="dk1"/>
                  </a:solidFill>
                  <a:prstDash val="solid"/>
                  <a:miter lim="20923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87" name="Google Shape;87;p8"/>
                <p:cNvCxnSpPr/>
                <p:nvPr/>
              </p:nvCxnSpPr>
              <p:spPr>
                <a:xfrm rot="5400000">
                  <a:off x="-68600" y="8970116"/>
                  <a:ext cx="84507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88" name="Google Shape;88;p8"/>
              <p:cNvSpPr/>
              <p:nvPr/>
            </p:nvSpPr>
            <p:spPr>
              <a:xfrm>
                <a:off x="826293" y="3991810"/>
                <a:ext cx="416007" cy="741943"/>
              </a:xfrm>
              <a:custGeom>
                <a:rect b="b" l="l" r="r" t="t"/>
                <a:pathLst>
                  <a:path extrusionOk="0" fill="none" h="27160" w="16217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cap="rnd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/>
          <p:nvPr>
            <p:ph idx="1" type="body"/>
          </p:nvPr>
        </p:nvSpPr>
        <p:spPr>
          <a:xfrm>
            <a:off x="1519225" y="1548790"/>
            <a:ext cx="6105600" cy="1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1" name="Google Shape;91;p9"/>
          <p:cNvSpPr txBox="1"/>
          <p:nvPr>
            <p:ph type="title"/>
          </p:nvPr>
        </p:nvSpPr>
        <p:spPr>
          <a:xfrm>
            <a:off x="2917955" y="614900"/>
            <a:ext cx="3308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92" name="Google Shape;92;p9"/>
          <p:cNvCxnSpPr/>
          <p:nvPr/>
        </p:nvCxnSpPr>
        <p:spPr>
          <a:xfrm>
            <a:off x="-39950" y="4625657"/>
            <a:ext cx="920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9"/>
          <p:cNvSpPr/>
          <p:nvPr/>
        </p:nvSpPr>
        <p:spPr>
          <a:xfrm>
            <a:off x="-11850" y="4736400"/>
            <a:ext cx="9167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9"/>
          <p:cNvGrpSpPr/>
          <p:nvPr/>
        </p:nvGrpSpPr>
        <p:grpSpPr>
          <a:xfrm rot="10800000">
            <a:off x="8600601" y="0"/>
            <a:ext cx="963555" cy="2572493"/>
            <a:chOff x="-912" y="2571000"/>
            <a:chExt cx="963555" cy="2572493"/>
          </a:xfrm>
        </p:grpSpPr>
        <p:sp>
          <p:nvSpPr>
            <p:cNvPr id="95" name="Google Shape;95;p9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rect b="b" l="l" r="r" t="t"/>
              <a:pathLst>
                <a:path extrusionOk="0" fill="none" h="2282" w="8224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9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rect b="b" l="l" r="r" t="t"/>
              <a:pathLst>
                <a:path extrusionOk="0" fill="none" h="3307" w="1801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9"/>
            <p:cNvSpPr/>
            <p:nvPr/>
          </p:nvSpPr>
          <p:spPr>
            <a:xfrm rot="10800000">
              <a:off x="412148" y="2571787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8" name="Google Shape;98;p9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9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" name="Google Shape;100;p9"/>
          <p:cNvGrpSpPr/>
          <p:nvPr/>
        </p:nvGrpSpPr>
        <p:grpSpPr>
          <a:xfrm flipH="1" rot="10800000">
            <a:off x="-410456" y="0"/>
            <a:ext cx="963555" cy="2572493"/>
            <a:chOff x="-912" y="2571000"/>
            <a:chExt cx="963555" cy="2572493"/>
          </a:xfrm>
        </p:grpSpPr>
        <p:sp>
          <p:nvSpPr>
            <p:cNvPr id="101" name="Google Shape;101;p9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rect b="b" l="l" r="r" t="t"/>
              <a:pathLst>
                <a:path extrusionOk="0" fill="none" h="2282" w="8224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rect b="b" l="l" r="r" t="t"/>
              <a:pathLst>
                <a:path extrusionOk="0" fill="none" h="3307" w="1801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 rot="10800000">
              <a:off x="412148" y="2571787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4" name="Google Shape;104;p9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" name="Google Shape;105;p9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 txBox="1"/>
          <p:nvPr>
            <p:ph type="title"/>
          </p:nvPr>
        </p:nvSpPr>
        <p:spPr>
          <a:xfrm>
            <a:off x="731075" y="365754"/>
            <a:ext cx="8036100" cy="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08" name="Google Shape;108;p10"/>
          <p:cNvCxnSpPr/>
          <p:nvPr/>
        </p:nvCxnSpPr>
        <p:spPr>
          <a:xfrm>
            <a:off x="-46412" y="4619195"/>
            <a:ext cx="920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>
            <p:ph type="title"/>
          </p:nvPr>
        </p:nvSpPr>
        <p:spPr>
          <a:xfrm>
            <a:off x="1655575" y="365745"/>
            <a:ext cx="5832900" cy="8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11" name="Google Shape;111;p11"/>
          <p:cNvCxnSpPr/>
          <p:nvPr/>
        </p:nvCxnSpPr>
        <p:spPr>
          <a:xfrm>
            <a:off x="-46412" y="4619195"/>
            <a:ext cx="920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1"/>
          <p:cNvSpPr/>
          <p:nvPr/>
        </p:nvSpPr>
        <p:spPr>
          <a:xfrm>
            <a:off x="-46400" y="4729950"/>
            <a:ext cx="92466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" name="Google Shape;113;p11"/>
          <p:cNvCxnSpPr>
            <a:stCxn id="114" idx="2"/>
          </p:cNvCxnSpPr>
          <p:nvPr/>
        </p:nvCxnSpPr>
        <p:spPr>
          <a:xfrm>
            <a:off x="406484" y="2568259"/>
            <a:ext cx="8329800" cy="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" name="Google Shape;115;p11"/>
          <p:cNvGrpSpPr/>
          <p:nvPr/>
        </p:nvGrpSpPr>
        <p:grpSpPr>
          <a:xfrm rot="-5400000">
            <a:off x="-92438" y="2216098"/>
            <a:ext cx="273654" cy="724191"/>
            <a:chOff x="4436614" y="-316191"/>
            <a:chExt cx="273654" cy="724191"/>
          </a:xfrm>
        </p:grpSpPr>
        <p:cxnSp>
          <p:nvCxnSpPr>
            <p:cNvPr id="116" name="Google Shape;116;p11"/>
            <p:cNvCxnSpPr/>
            <p:nvPr/>
          </p:nvCxnSpPr>
          <p:spPr>
            <a:xfrm rot="10800000">
              <a:off x="4572750" y="-316191"/>
              <a:ext cx="0" cy="445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7" name="Google Shape;117;p11"/>
            <p:cNvSpPr/>
            <p:nvPr/>
          </p:nvSpPr>
          <p:spPr>
            <a:xfrm>
              <a:off x="4446425" y="14275"/>
              <a:ext cx="262500" cy="9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4560575" y="117000"/>
              <a:ext cx="45600" cy="291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" name="Google Shape;118;p11"/>
            <p:cNvGrpSpPr/>
            <p:nvPr/>
          </p:nvGrpSpPr>
          <p:grpSpPr>
            <a:xfrm>
              <a:off x="4436614" y="8562"/>
              <a:ext cx="273654" cy="393837"/>
              <a:chOff x="274914" y="8562"/>
              <a:chExt cx="273654" cy="393837"/>
            </a:xfrm>
          </p:grpSpPr>
          <p:sp>
            <p:nvSpPr>
              <p:cNvPr id="119" name="Google Shape;119;p11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1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1" name="Google Shape;121;p11"/>
          <p:cNvGrpSpPr/>
          <p:nvPr/>
        </p:nvGrpSpPr>
        <p:grpSpPr>
          <a:xfrm rot="5400000">
            <a:off x="8953918" y="2209636"/>
            <a:ext cx="273654" cy="724191"/>
            <a:chOff x="4436614" y="-316191"/>
            <a:chExt cx="273654" cy="724191"/>
          </a:xfrm>
        </p:grpSpPr>
        <p:cxnSp>
          <p:nvCxnSpPr>
            <p:cNvPr id="122" name="Google Shape;122;p11"/>
            <p:cNvCxnSpPr/>
            <p:nvPr/>
          </p:nvCxnSpPr>
          <p:spPr>
            <a:xfrm rot="10800000">
              <a:off x="4572750" y="-316191"/>
              <a:ext cx="0" cy="445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" name="Google Shape;123;p11"/>
            <p:cNvSpPr/>
            <p:nvPr/>
          </p:nvSpPr>
          <p:spPr>
            <a:xfrm>
              <a:off x="4446425" y="14275"/>
              <a:ext cx="262500" cy="9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4560575" y="117000"/>
              <a:ext cx="45600" cy="291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" name="Google Shape;125;p11"/>
            <p:cNvGrpSpPr/>
            <p:nvPr/>
          </p:nvGrpSpPr>
          <p:grpSpPr>
            <a:xfrm>
              <a:off x="4436614" y="8562"/>
              <a:ext cx="273654" cy="393837"/>
              <a:chOff x="274914" y="8562"/>
              <a:chExt cx="273654" cy="393837"/>
            </a:xfrm>
          </p:grpSpPr>
          <p:sp>
            <p:nvSpPr>
              <p:cNvPr id="126" name="Google Shape;126;p11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1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8" name="Google Shape;128;p11"/>
          <p:cNvSpPr txBox="1"/>
          <p:nvPr>
            <p:ph hasCustomPrompt="1" idx="2" type="title"/>
          </p:nvPr>
        </p:nvSpPr>
        <p:spPr>
          <a:xfrm>
            <a:off x="2953800" y="1956750"/>
            <a:ext cx="3236400" cy="1230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1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9" name="Google Shape;129;p11"/>
          <p:cNvSpPr txBox="1"/>
          <p:nvPr>
            <p:ph idx="1" type="subTitle"/>
          </p:nvPr>
        </p:nvSpPr>
        <p:spPr>
          <a:xfrm>
            <a:off x="2574325" y="3244700"/>
            <a:ext cx="3995400" cy="3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>
            <p:ph type="title"/>
          </p:nvPr>
        </p:nvSpPr>
        <p:spPr>
          <a:xfrm>
            <a:off x="713250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33" name="Google Shape;133;p13"/>
          <p:cNvGrpSpPr/>
          <p:nvPr/>
        </p:nvGrpSpPr>
        <p:grpSpPr>
          <a:xfrm>
            <a:off x="-520681" y="-80987"/>
            <a:ext cx="1135875" cy="1349306"/>
            <a:chOff x="9519" y="-14212"/>
            <a:chExt cx="1135875" cy="1349306"/>
          </a:xfrm>
        </p:grpSpPr>
        <p:sp>
          <p:nvSpPr>
            <p:cNvPr id="134" name="Google Shape;134;p13"/>
            <p:cNvSpPr/>
            <p:nvPr/>
          </p:nvSpPr>
          <p:spPr>
            <a:xfrm rot="-5400000">
              <a:off x="-77854" y="1148813"/>
              <a:ext cx="273654" cy="98908"/>
            </a:xfrm>
            <a:custGeom>
              <a:rect b="b" l="l" r="r" t="t"/>
              <a:pathLst>
                <a:path extrusionOk="0" fill="none" h="2282" w="8224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 rot="-5400000">
              <a:off x="225906" y="1048343"/>
              <a:ext cx="59924" cy="294976"/>
            </a:xfrm>
            <a:custGeom>
              <a:rect b="b" l="l" r="r" t="t"/>
              <a:pathLst>
                <a:path extrusionOk="0" fill="none" h="3307" w="1801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 rot="-5400000">
              <a:off x="566325" y="616868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7" name="Google Shape;137;p13"/>
            <p:cNvCxnSpPr/>
            <p:nvPr/>
          </p:nvCxnSpPr>
          <p:spPr>
            <a:xfrm rot="10800000">
              <a:off x="1145394" y="-14212"/>
              <a:ext cx="0" cy="790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8" name="Google Shape;138;p13"/>
          <p:cNvGrpSpPr/>
          <p:nvPr/>
        </p:nvGrpSpPr>
        <p:grpSpPr>
          <a:xfrm>
            <a:off x="8323500" y="-334844"/>
            <a:ext cx="851600" cy="741944"/>
            <a:chOff x="8323500" y="-334844"/>
            <a:chExt cx="851600" cy="741944"/>
          </a:xfrm>
        </p:grpSpPr>
        <p:cxnSp>
          <p:nvCxnSpPr>
            <p:cNvPr id="139" name="Google Shape;139;p13"/>
            <p:cNvCxnSpPr/>
            <p:nvPr/>
          </p:nvCxnSpPr>
          <p:spPr>
            <a:xfrm>
              <a:off x="8739500" y="407100"/>
              <a:ext cx="4356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" name="Google Shape;140;p13"/>
            <p:cNvSpPr/>
            <p:nvPr/>
          </p:nvSpPr>
          <p:spPr>
            <a:xfrm>
              <a:off x="8323500" y="-334844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3"/>
          <p:cNvSpPr/>
          <p:nvPr/>
        </p:nvSpPr>
        <p:spPr>
          <a:xfrm rot="-5400000">
            <a:off x="8214613" y="4247148"/>
            <a:ext cx="1127845" cy="741937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3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4" name="Google Shape;144;p14"/>
          <p:cNvGrpSpPr/>
          <p:nvPr/>
        </p:nvGrpSpPr>
        <p:grpSpPr>
          <a:xfrm flipH="1" rot="10800000">
            <a:off x="-6458" y="-218059"/>
            <a:ext cx="1543841" cy="2636834"/>
            <a:chOff x="410253" y="2571741"/>
            <a:chExt cx="1543841" cy="2636834"/>
          </a:xfrm>
        </p:grpSpPr>
        <p:sp>
          <p:nvSpPr>
            <p:cNvPr id="145" name="Google Shape;145;p14"/>
            <p:cNvSpPr/>
            <p:nvPr/>
          </p:nvSpPr>
          <p:spPr>
            <a:xfrm>
              <a:off x="826250" y="4388036"/>
              <a:ext cx="1127845" cy="820538"/>
            </a:xfrm>
            <a:custGeom>
              <a:rect b="b" l="l" r="r" t="t"/>
              <a:pathLst>
                <a:path extrusionOk="0" fill="none" h="46033" w="69760">
                  <a:moveTo>
                    <a:pt x="0" y="0"/>
                  </a:moveTo>
                  <a:lnTo>
                    <a:pt x="0" y="0"/>
                  </a:lnTo>
                  <a:cubicBezTo>
                    <a:pt x="0" y="10755"/>
                    <a:pt x="8726" y="19480"/>
                    <a:pt x="19480" y="19480"/>
                  </a:cubicBezTo>
                  <a:lnTo>
                    <a:pt x="50280" y="19480"/>
                  </a:lnTo>
                  <a:cubicBezTo>
                    <a:pt x="61035" y="19480"/>
                    <a:pt x="69760" y="28205"/>
                    <a:pt x="69760" y="38960"/>
                  </a:cubicBezTo>
                  <a:lnTo>
                    <a:pt x="69760" y="46032"/>
                  </a:lnTo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6" name="Google Shape;146;p14"/>
            <p:cNvCxnSpPr/>
            <p:nvPr/>
          </p:nvCxnSpPr>
          <p:spPr>
            <a:xfrm rot="10800000">
              <a:off x="826250" y="3123650"/>
              <a:ext cx="0" cy="1275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" name="Google Shape;147;p14"/>
            <p:cNvSpPr/>
            <p:nvPr/>
          </p:nvSpPr>
          <p:spPr>
            <a:xfrm rot="10800000">
              <a:off x="410253" y="2571741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" name="Google Shape;148;p14"/>
          <p:cNvGrpSpPr/>
          <p:nvPr/>
        </p:nvGrpSpPr>
        <p:grpSpPr>
          <a:xfrm>
            <a:off x="8410514" y="9537"/>
            <a:ext cx="1263736" cy="1284625"/>
            <a:chOff x="8181914" y="9537"/>
            <a:chExt cx="1263736" cy="1284625"/>
          </a:xfrm>
        </p:grpSpPr>
        <p:sp>
          <p:nvSpPr>
            <p:cNvPr id="149" name="Google Shape;149;p14"/>
            <p:cNvSpPr/>
            <p:nvPr/>
          </p:nvSpPr>
          <p:spPr>
            <a:xfrm>
              <a:off x="8317805" y="473624"/>
              <a:ext cx="1127845" cy="820538"/>
            </a:xfrm>
            <a:custGeom>
              <a:rect b="b" l="l" r="r" t="t"/>
              <a:pathLst>
                <a:path extrusionOk="0" fill="none" h="46033" w="69760">
                  <a:moveTo>
                    <a:pt x="0" y="0"/>
                  </a:moveTo>
                  <a:lnTo>
                    <a:pt x="0" y="0"/>
                  </a:lnTo>
                  <a:cubicBezTo>
                    <a:pt x="0" y="10755"/>
                    <a:pt x="8726" y="19480"/>
                    <a:pt x="19480" y="19480"/>
                  </a:cubicBezTo>
                  <a:lnTo>
                    <a:pt x="50280" y="19480"/>
                  </a:lnTo>
                  <a:cubicBezTo>
                    <a:pt x="61035" y="19480"/>
                    <a:pt x="69760" y="28205"/>
                    <a:pt x="69760" y="38960"/>
                  </a:cubicBezTo>
                  <a:lnTo>
                    <a:pt x="69760" y="46032"/>
                  </a:lnTo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0" name="Google Shape;150;p14"/>
            <p:cNvGrpSpPr/>
            <p:nvPr/>
          </p:nvGrpSpPr>
          <p:grpSpPr>
            <a:xfrm>
              <a:off x="8181914" y="9537"/>
              <a:ext cx="273654" cy="393837"/>
              <a:chOff x="274914" y="8562"/>
              <a:chExt cx="273654" cy="393837"/>
            </a:xfrm>
          </p:grpSpPr>
          <p:sp>
            <p:nvSpPr>
              <p:cNvPr id="151" name="Google Shape;151;p14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4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3" name="Google Shape;153;p14"/>
            <p:cNvCxnSpPr/>
            <p:nvPr/>
          </p:nvCxnSpPr>
          <p:spPr>
            <a:xfrm rot="10800000">
              <a:off x="8318175" y="409475"/>
              <a:ext cx="0" cy="90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4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6" name="Google Shape;156;p15"/>
          <p:cNvSpPr/>
          <p:nvPr/>
        </p:nvSpPr>
        <p:spPr>
          <a:xfrm flipH="1">
            <a:off x="8040709" y="4430148"/>
            <a:ext cx="1127845" cy="741937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rgbClr val="850707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" name="Google Shape;157;p15"/>
          <p:cNvGrpSpPr/>
          <p:nvPr/>
        </p:nvGrpSpPr>
        <p:grpSpPr>
          <a:xfrm>
            <a:off x="827056" y="-407225"/>
            <a:ext cx="8322444" cy="742000"/>
            <a:chOff x="827056" y="-331025"/>
            <a:chExt cx="8322444" cy="742000"/>
          </a:xfrm>
        </p:grpSpPr>
        <p:cxnSp>
          <p:nvCxnSpPr>
            <p:cNvPr id="158" name="Google Shape;158;p15"/>
            <p:cNvCxnSpPr/>
            <p:nvPr/>
          </p:nvCxnSpPr>
          <p:spPr>
            <a:xfrm>
              <a:off x="1211500" y="410975"/>
              <a:ext cx="7938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" name="Google Shape;159;p15"/>
            <p:cNvSpPr/>
            <p:nvPr/>
          </p:nvSpPr>
          <p:spPr>
            <a:xfrm>
              <a:off x="827056" y="-331025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15"/>
          <p:cNvSpPr/>
          <p:nvPr/>
        </p:nvSpPr>
        <p:spPr>
          <a:xfrm flipH="1" rot="5400000">
            <a:off x="-218066" y="4247148"/>
            <a:ext cx="1127845" cy="741937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rgbClr val="850707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5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63" name="Google Shape;163;p16"/>
          <p:cNvGrpSpPr/>
          <p:nvPr/>
        </p:nvGrpSpPr>
        <p:grpSpPr>
          <a:xfrm rot="10800000">
            <a:off x="8623433" y="0"/>
            <a:ext cx="273654" cy="5158175"/>
            <a:chOff x="270152" y="9537"/>
            <a:chExt cx="273654" cy="5158175"/>
          </a:xfrm>
        </p:grpSpPr>
        <p:grpSp>
          <p:nvGrpSpPr>
            <p:cNvPr id="164" name="Google Shape;164;p16"/>
            <p:cNvGrpSpPr/>
            <p:nvPr/>
          </p:nvGrpSpPr>
          <p:grpSpPr>
            <a:xfrm>
              <a:off x="270152" y="9537"/>
              <a:ext cx="273654" cy="393837"/>
              <a:chOff x="274914" y="8562"/>
              <a:chExt cx="273654" cy="393837"/>
            </a:xfrm>
          </p:grpSpPr>
          <p:sp>
            <p:nvSpPr>
              <p:cNvPr id="165" name="Google Shape;165;p16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6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" name="Google Shape;167;p16"/>
            <p:cNvCxnSpPr/>
            <p:nvPr/>
          </p:nvCxnSpPr>
          <p:spPr>
            <a:xfrm rot="10800000">
              <a:off x="407094" y="414212"/>
              <a:ext cx="0" cy="4753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8" name="Google Shape;168;p16"/>
          <p:cNvGrpSpPr/>
          <p:nvPr/>
        </p:nvGrpSpPr>
        <p:grpSpPr>
          <a:xfrm>
            <a:off x="181660" y="-66750"/>
            <a:ext cx="338976" cy="1328735"/>
            <a:chOff x="628195" y="-66750"/>
            <a:chExt cx="338976" cy="1328735"/>
          </a:xfrm>
        </p:grpSpPr>
        <p:grpSp>
          <p:nvGrpSpPr>
            <p:cNvPr id="169" name="Google Shape;169;p16"/>
            <p:cNvGrpSpPr/>
            <p:nvPr/>
          </p:nvGrpSpPr>
          <p:grpSpPr>
            <a:xfrm>
              <a:off x="628195" y="768506"/>
              <a:ext cx="338976" cy="493479"/>
              <a:chOff x="1168550" y="1865650"/>
              <a:chExt cx="566850" cy="825354"/>
            </a:xfrm>
          </p:grpSpPr>
          <p:sp>
            <p:nvSpPr>
              <p:cNvPr id="170" name="Google Shape;170;p16"/>
              <p:cNvSpPr/>
              <p:nvPr/>
            </p:nvSpPr>
            <p:spPr>
              <a:xfrm>
                <a:off x="1168550" y="2165899"/>
                <a:ext cx="494807" cy="525105"/>
              </a:xfrm>
              <a:custGeom>
                <a:rect b="b" l="l" r="r" t="t"/>
                <a:pathLst>
                  <a:path extrusionOk="0" h="13602" w="14062">
                    <a:moveTo>
                      <a:pt x="12934" y="0"/>
                    </a:moveTo>
                    <a:cubicBezTo>
                      <a:pt x="10702" y="0"/>
                      <a:pt x="7811" y="1769"/>
                      <a:pt x="5012" y="1769"/>
                    </a:cubicBezTo>
                    <a:cubicBezTo>
                      <a:pt x="4452" y="1769"/>
                      <a:pt x="3895" y="1699"/>
                      <a:pt x="3348" y="1528"/>
                    </a:cubicBezTo>
                    <a:cubicBezTo>
                      <a:pt x="2950" y="1400"/>
                      <a:pt x="2563" y="1344"/>
                      <a:pt x="2188" y="1344"/>
                    </a:cubicBezTo>
                    <a:cubicBezTo>
                      <a:pt x="1400" y="1344"/>
                      <a:pt x="667" y="1592"/>
                      <a:pt x="1" y="1947"/>
                    </a:cubicBezTo>
                    <a:lnTo>
                      <a:pt x="1" y="11342"/>
                    </a:lnTo>
                    <a:cubicBezTo>
                      <a:pt x="1" y="12597"/>
                      <a:pt x="1005" y="13601"/>
                      <a:pt x="2260" y="13601"/>
                    </a:cubicBezTo>
                    <a:lnTo>
                      <a:pt x="11802" y="13601"/>
                    </a:lnTo>
                    <a:cubicBezTo>
                      <a:pt x="13057" y="13601"/>
                      <a:pt x="14061" y="12597"/>
                      <a:pt x="14061" y="11342"/>
                    </a:cubicBezTo>
                    <a:lnTo>
                      <a:pt x="14061" y="189"/>
                    </a:lnTo>
                    <a:cubicBezTo>
                      <a:pt x="13709" y="57"/>
                      <a:pt x="13332" y="0"/>
                      <a:pt x="129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6"/>
              <p:cNvSpPr/>
              <p:nvPr/>
            </p:nvSpPr>
            <p:spPr>
              <a:xfrm>
                <a:off x="1429625" y="1865650"/>
                <a:ext cx="125050" cy="84072"/>
              </a:xfrm>
              <a:custGeom>
                <a:rect b="b" l="l" r="r" t="t"/>
                <a:pathLst>
                  <a:path extrusionOk="0" fill="none" h="6320" w="5002">
                    <a:moveTo>
                      <a:pt x="5001" y="3160"/>
                    </a:moveTo>
                    <a:cubicBezTo>
                      <a:pt x="5001" y="4896"/>
                      <a:pt x="3892" y="6319"/>
                      <a:pt x="2511" y="6319"/>
                    </a:cubicBezTo>
                    <a:cubicBezTo>
                      <a:pt x="1130" y="6319"/>
                      <a:pt x="0" y="4896"/>
                      <a:pt x="0" y="3160"/>
                    </a:cubicBezTo>
                    <a:cubicBezTo>
                      <a:pt x="0" y="1423"/>
                      <a:pt x="1130" y="0"/>
                      <a:pt x="2511" y="0"/>
                    </a:cubicBezTo>
                    <a:cubicBezTo>
                      <a:pt x="3892" y="0"/>
                      <a:pt x="5001" y="1423"/>
                      <a:pt x="5001" y="3160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6"/>
              <p:cNvSpPr/>
              <p:nvPr/>
            </p:nvSpPr>
            <p:spPr>
              <a:xfrm>
                <a:off x="1248900" y="1949725"/>
                <a:ext cx="486500" cy="662250"/>
              </a:xfrm>
              <a:custGeom>
                <a:rect b="b" l="l" r="r" t="t"/>
                <a:pathLst>
                  <a:path extrusionOk="0" h="26490" w="19460">
                    <a:moveTo>
                      <a:pt x="0" y="0"/>
                    </a:moveTo>
                    <a:lnTo>
                      <a:pt x="0" y="24983"/>
                    </a:lnTo>
                    <a:cubicBezTo>
                      <a:pt x="0" y="25820"/>
                      <a:pt x="670" y="26490"/>
                      <a:pt x="1507" y="26490"/>
                    </a:cubicBezTo>
                    <a:lnTo>
                      <a:pt x="17953" y="26490"/>
                    </a:lnTo>
                    <a:cubicBezTo>
                      <a:pt x="18790" y="26490"/>
                      <a:pt x="19459" y="25820"/>
                      <a:pt x="19459" y="24983"/>
                    </a:cubicBezTo>
                    <a:lnTo>
                      <a:pt x="19459" y="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3" name="Google Shape;173;p16"/>
              <p:cNvGrpSpPr/>
              <p:nvPr/>
            </p:nvGrpSpPr>
            <p:grpSpPr>
              <a:xfrm>
                <a:off x="1405624" y="2301079"/>
                <a:ext cx="208705" cy="208705"/>
                <a:chOff x="1430400" y="2325825"/>
                <a:chExt cx="159050" cy="159050"/>
              </a:xfrm>
            </p:grpSpPr>
            <p:sp>
              <p:nvSpPr>
                <p:cNvPr id="174" name="Google Shape;174;p16"/>
                <p:cNvSpPr/>
                <p:nvPr/>
              </p:nvSpPr>
              <p:spPr>
                <a:xfrm>
                  <a:off x="1486900" y="2325825"/>
                  <a:ext cx="46575" cy="159050"/>
                </a:xfrm>
                <a:custGeom>
                  <a:rect b="b" l="l" r="r" t="t"/>
                  <a:pathLst>
                    <a:path extrusionOk="0" h="6362" w="1863">
                      <a:moveTo>
                        <a:pt x="1" y="0"/>
                      </a:moveTo>
                      <a:lnTo>
                        <a:pt x="1" y="6361"/>
                      </a:lnTo>
                      <a:lnTo>
                        <a:pt x="1863" y="6361"/>
                      </a:lnTo>
                      <a:lnTo>
                        <a:pt x="18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" name="Google Shape;175;p16"/>
                <p:cNvSpPr/>
                <p:nvPr/>
              </p:nvSpPr>
              <p:spPr>
                <a:xfrm>
                  <a:off x="1430400" y="2382325"/>
                  <a:ext cx="159050" cy="46575"/>
                </a:xfrm>
                <a:custGeom>
                  <a:rect b="b" l="l" r="r" t="t"/>
                  <a:pathLst>
                    <a:path extrusionOk="0" h="1863" w="6362">
                      <a:moveTo>
                        <a:pt x="1" y="0"/>
                      </a:moveTo>
                      <a:lnTo>
                        <a:pt x="1" y="1862"/>
                      </a:lnTo>
                      <a:lnTo>
                        <a:pt x="6362" y="1862"/>
                      </a:lnTo>
                      <a:lnTo>
                        <a:pt x="636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176" name="Google Shape;176;p16"/>
            <p:cNvCxnSpPr/>
            <p:nvPr/>
          </p:nvCxnSpPr>
          <p:spPr>
            <a:xfrm rot="10800000">
              <a:off x="821713" y="-66750"/>
              <a:ext cx="0" cy="827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6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79" name="Google Shape;179;p17"/>
          <p:cNvGrpSpPr/>
          <p:nvPr/>
        </p:nvGrpSpPr>
        <p:grpSpPr>
          <a:xfrm>
            <a:off x="-359869" y="2571000"/>
            <a:ext cx="963555" cy="2572493"/>
            <a:chOff x="-912" y="2571000"/>
            <a:chExt cx="963555" cy="2572493"/>
          </a:xfrm>
        </p:grpSpPr>
        <p:sp>
          <p:nvSpPr>
            <p:cNvPr id="180" name="Google Shape;180;p17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rect b="b" l="l" r="r" t="t"/>
              <a:pathLst>
                <a:path extrusionOk="0" fill="none" h="2282" w="8224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7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rect b="b" l="l" r="r" t="t"/>
              <a:pathLst>
                <a:path extrusionOk="0" fill="none" h="3307" w="1801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7"/>
            <p:cNvSpPr/>
            <p:nvPr/>
          </p:nvSpPr>
          <p:spPr>
            <a:xfrm rot="10800000">
              <a:off x="411173" y="2571787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3" name="Google Shape;183;p17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17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5" name="Google Shape;185;p17"/>
          <p:cNvGrpSpPr/>
          <p:nvPr/>
        </p:nvGrpSpPr>
        <p:grpSpPr>
          <a:xfrm rot="10800000">
            <a:off x="8536221" y="0"/>
            <a:ext cx="963555" cy="2572493"/>
            <a:chOff x="-912" y="2571000"/>
            <a:chExt cx="963555" cy="2572493"/>
          </a:xfrm>
        </p:grpSpPr>
        <p:sp>
          <p:nvSpPr>
            <p:cNvPr id="186" name="Google Shape;186;p17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rect b="b" l="l" r="r" t="t"/>
              <a:pathLst>
                <a:path extrusionOk="0" fill="none" h="2282" w="8224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7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rect b="b" l="l" r="r" t="t"/>
              <a:pathLst>
                <a:path extrusionOk="0" fill="none" h="3307" w="1801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7"/>
            <p:cNvSpPr/>
            <p:nvPr/>
          </p:nvSpPr>
          <p:spPr>
            <a:xfrm rot="10800000">
              <a:off x="412148" y="2571787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9" name="Google Shape;189;p17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" name="Google Shape;190;p17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7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3" name="Google Shape;193;p18"/>
          <p:cNvSpPr/>
          <p:nvPr/>
        </p:nvSpPr>
        <p:spPr>
          <a:xfrm flipH="1" rot="5400000">
            <a:off x="-214341" y="4515948"/>
            <a:ext cx="1127845" cy="741937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rgbClr val="850707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" name="Google Shape;194;p18"/>
          <p:cNvGrpSpPr/>
          <p:nvPr/>
        </p:nvGrpSpPr>
        <p:grpSpPr>
          <a:xfrm flipH="1">
            <a:off x="8013871" y="-842887"/>
            <a:ext cx="1135875" cy="1349306"/>
            <a:chOff x="9519" y="-14212"/>
            <a:chExt cx="1135875" cy="1349306"/>
          </a:xfrm>
        </p:grpSpPr>
        <p:sp>
          <p:nvSpPr>
            <p:cNvPr id="195" name="Google Shape;195;p18"/>
            <p:cNvSpPr/>
            <p:nvPr/>
          </p:nvSpPr>
          <p:spPr>
            <a:xfrm rot="-5400000">
              <a:off x="-77854" y="1148813"/>
              <a:ext cx="273654" cy="98908"/>
            </a:xfrm>
            <a:custGeom>
              <a:rect b="b" l="l" r="r" t="t"/>
              <a:pathLst>
                <a:path extrusionOk="0" fill="none" h="2282" w="8224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/>
            <p:nvPr/>
          </p:nvSpPr>
          <p:spPr>
            <a:xfrm rot="-5400000">
              <a:off x="225906" y="1048343"/>
              <a:ext cx="59924" cy="294976"/>
            </a:xfrm>
            <a:custGeom>
              <a:rect b="b" l="l" r="r" t="t"/>
              <a:pathLst>
                <a:path extrusionOk="0" fill="none" h="3307" w="1801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8"/>
            <p:cNvSpPr/>
            <p:nvPr/>
          </p:nvSpPr>
          <p:spPr>
            <a:xfrm rot="-5400000">
              <a:off x="566325" y="616868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8" name="Google Shape;198;p18"/>
            <p:cNvCxnSpPr/>
            <p:nvPr/>
          </p:nvCxnSpPr>
          <p:spPr>
            <a:xfrm rot="10800000">
              <a:off x="1145394" y="-14212"/>
              <a:ext cx="0" cy="790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9" name="Google Shape;199;p18"/>
          <p:cNvGrpSpPr/>
          <p:nvPr/>
        </p:nvGrpSpPr>
        <p:grpSpPr>
          <a:xfrm>
            <a:off x="-273700" y="-387474"/>
            <a:ext cx="871339" cy="1210056"/>
            <a:chOff x="-45100" y="-387474"/>
            <a:chExt cx="871339" cy="1210056"/>
          </a:xfrm>
        </p:grpSpPr>
        <p:sp>
          <p:nvSpPr>
            <p:cNvPr id="200" name="Google Shape;200;p18"/>
            <p:cNvSpPr/>
            <p:nvPr/>
          </p:nvSpPr>
          <p:spPr>
            <a:xfrm rot="-5400000">
              <a:off x="247170" y="243607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1" name="Google Shape;201;p18"/>
            <p:cNvCxnSpPr/>
            <p:nvPr/>
          </p:nvCxnSpPr>
          <p:spPr>
            <a:xfrm rot="10800000">
              <a:off x="826239" y="-387474"/>
              <a:ext cx="0" cy="790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18"/>
            <p:cNvCxnSpPr/>
            <p:nvPr/>
          </p:nvCxnSpPr>
          <p:spPr>
            <a:xfrm rot="10800000">
              <a:off x="-45100" y="822563"/>
              <a:ext cx="2325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8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05" name="Google Shape;205;p19"/>
          <p:cNvGrpSpPr/>
          <p:nvPr/>
        </p:nvGrpSpPr>
        <p:grpSpPr>
          <a:xfrm>
            <a:off x="-76201" y="-14062"/>
            <a:ext cx="9225851" cy="4883578"/>
            <a:chOff x="-76201" y="-14062"/>
            <a:chExt cx="9225851" cy="4883578"/>
          </a:xfrm>
        </p:grpSpPr>
        <p:grpSp>
          <p:nvGrpSpPr>
            <p:cNvPr id="206" name="Google Shape;206;p19"/>
            <p:cNvGrpSpPr/>
            <p:nvPr/>
          </p:nvGrpSpPr>
          <p:grpSpPr>
            <a:xfrm>
              <a:off x="-2" y="4595863"/>
              <a:ext cx="9149652" cy="273654"/>
              <a:chOff x="-2" y="4595863"/>
              <a:chExt cx="9149652" cy="273654"/>
            </a:xfrm>
          </p:grpSpPr>
          <p:sp>
            <p:nvSpPr>
              <p:cNvPr id="207" name="Google Shape;207;p19"/>
              <p:cNvSpPr/>
              <p:nvPr/>
            </p:nvSpPr>
            <p:spPr>
              <a:xfrm flipH="1" rot="-5400000">
                <a:off x="-87375" y="4683236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9"/>
              <p:cNvSpPr/>
              <p:nvPr/>
            </p:nvSpPr>
            <p:spPr>
              <a:xfrm flipH="1" rot="-5400000">
                <a:off x="216385" y="4587636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9" name="Google Shape;209;p19"/>
              <p:cNvCxnSpPr/>
              <p:nvPr/>
            </p:nvCxnSpPr>
            <p:spPr>
              <a:xfrm>
                <a:off x="393850" y="4739150"/>
                <a:ext cx="8755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10" name="Google Shape;210;p19"/>
            <p:cNvGrpSpPr/>
            <p:nvPr/>
          </p:nvGrpSpPr>
          <p:grpSpPr>
            <a:xfrm>
              <a:off x="-76201" y="-14062"/>
              <a:ext cx="917028" cy="1214162"/>
              <a:chOff x="-76200" y="-6"/>
              <a:chExt cx="917028" cy="1128718"/>
            </a:xfrm>
          </p:grpSpPr>
          <p:sp>
            <p:nvSpPr>
              <p:cNvPr id="211" name="Google Shape;211;p19"/>
              <p:cNvSpPr/>
              <p:nvPr/>
            </p:nvSpPr>
            <p:spPr>
              <a:xfrm rot="-5400000">
                <a:off x="-94062" y="192948"/>
                <a:ext cx="1127845" cy="741937"/>
              </a:xfrm>
              <a:custGeom>
                <a:rect b="b" l="l" r="r" t="t"/>
                <a:pathLst>
                  <a:path extrusionOk="0" fill="none" h="46033" w="6976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0755"/>
                      <a:pt x="8726" y="19480"/>
                      <a:pt x="19480" y="19480"/>
                    </a:cubicBezTo>
                    <a:lnTo>
                      <a:pt x="50280" y="19480"/>
                    </a:lnTo>
                    <a:cubicBezTo>
                      <a:pt x="61035" y="19480"/>
                      <a:pt x="69760" y="28205"/>
                      <a:pt x="69760" y="38960"/>
                    </a:cubicBezTo>
                    <a:lnTo>
                      <a:pt x="69760" y="46032"/>
                    </a:lnTo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2" name="Google Shape;212;p19"/>
              <p:cNvCxnSpPr/>
              <p:nvPr/>
            </p:nvCxnSpPr>
            <p:spPr>
              <a:xfrm rot="10800000">
                <a:off x="-76200" y="1128713"/>
                <a:ext cx="190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13" name="Google Shape;213;p19"/>
          <p:cNvGrpSpPr/>
          <p:nvPr/>
        </p:nvGrpSpPr>
        <p:grpSpPr>
          <a:xfrm>
            <a:off x="8679710" y="-66750"/>
            <a:ext cx="338976" cy="1328735"/>
            <a:chOff x="628195" y="-66750"/>
            <a:chExt cx="338976" cy="1328735"/>
          </a:xfrm>
        </p:grpSpPr>
        <p:grpSp>
          <p:nvGrpSpPr>
            <p:cNvPr id="214" name="Google Shape;214;p19"/>
            <p:cNvGrpSpPr/>
            <p:nvPr/>
          </p:nvGrpSpPr>
          <p:grpSpPr>
            <a:xfrm>
              <a:off x="628195" y="768506"/>
              <a:ext cx="338976" cy="493479"/>
              <a:chOff x="1168550" y="1865650"/>
              <a:chExt cx="566850" cy="825354"/>
            </a:xfrm>
          </p:grpSpPr>
          <p:sp>
            <p:nvSpPr>
              <p:cNvPr id="215" name="Google Shape;215;p19"/>
              <p:cNvSpPr/>
              <p:nvPr/>
            </p:nvSpPr>
            <p:spPr>
              <a:xfrm>
                <a:off x="1168550" y="2165899"/>
                <a:ext cx="494807" cy="525105"/>
              </a:xfrm>
              <a:custGeom>
                <a:rect b="b" l="l" r="r" t="t"/>
                <a:pathLst>
                  <a:path extrusionOk="0" h="13602" w="14062">
                    <a:moveTo>
                      <a:pt x="12934" y="0"/>
                    </a:moveTo>
                    <a:cubicBezTo>
                      <a:pt x="10702" y="0"/>
                      <a:pt x="7811" y="1769"/>
                      <a:pt x="5012" y="1769"/>
                    </a:cubicBezTo>
                    <a:cubicBezTo>
                      <a:pt x="4452" y="1769"/>
                      <a:pt x="3895" y="1699"/>
                      <a:pt x="3348" y="1528"/>
                    </a:cubicBezTo>
                    <a:cubicBezTo>
                      <a:pt x="2950" y="1400"/>
                      <a:pt x="2563" y="1344"/>
                      <a:pt x="2188" y="1344"/>
                    </a:cubicBezTo>
                    <a:cubicBezTo>
                      <a:pt x="1400" y="1344"/>
                      <a:pt x="667" y="1592"/>
                      <a:pt x="1" y="1947"/>
                    </a:cubicBezTo>
                    <a:lnTo>
                      <a:pt x="1" y="11342"/>
                    </a:lnTo>
                    <a:cubicBezTo>
                      <a:pt x="1" y="12597"/>
                      <a:pt x="1005" y="13601"/>
                      <a:pt x="2260" y="13601"/>
                    </a:cubicBezTo>
                    <a:lnTo>
                      <a:pt x="11802" y="13601"/>
                    </a:lnTo>
                    <a:cubicBezTo>
                      <a:pt x="13057" y="13601"/>
                      <a:pt x="14061" y="12597"/>
                      <a:pt x="14061" y="11342"/>
                    </a:cubicBezTo>
                    <a:lnTo>
                      <a:pt x="14061" y="189"/>
                    </a:lnTo>
                    <a:cubicBezTo>
                      <a:pt x="13709" y="57"/>
                      <a:pt x="13332" y="0"/>
                      <a:pt x="129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9"/>
              <p:cNvSpPr/>
              <p:nvPr/>
            </p:nvSpPr>
            <p:spPr>
              <a:xfrm>
                <a:off x="1429625" y="1865650"/>
                <a:ext cx="125050" cy="84072"/>
              </a:xfrm>
              <a:custGeom>
                <a:rect b="b" l="l" r="r" t="t"/>
                <a:pathLst>
                  <a:path extrusionOk="0" fill="none" h="6320" w="5002">
                    <a:moveTo>
                      <a:pt x="5001" y="3160"/>
                    </a:moveTo>
                    <a:cubicBezTo>
                      <a:pt x="5001" y="4896"/>
                      <a:pt x="3892" y="6319"/>
                      <a:pt x="2511" y="6319"/>
                    </a:cubicBezTo>
                    <a:cubicBezTo>
                      <a:pt x="1130" y="6319"/>
                      <a:pt x="0" y="4896"/>
                      <a:pt x="0" y="3160"/>
                    </a:cubicBezTo>
                    <a:cubicBezTo>
                      <a:pt x="0" y="1423"/>
                      <a:pt x="1130" y="0"/>
                      <a:pt x="2511" y="0"/>
                    </a:cubicBezTo>
                    <a:cubicBezTo>
                      <a:pt x="3892" y="0"/>
                      <a:pt x="5001" y="1423"/>
                      <a:pt x="5001" y="3160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9"/>
              <p:cNvSpPr/>
              <p:nvPr/>
            </p:nvSpPr>
            <p:spPr>
              <a:xfrm>
                <a:off x="1248900" y="1949725"/>
                <a:ext cx="486500" cy="662250"/>
              </a:xfrm>
              <a:custGeom>
                <a:rect b="b" l="l" r="r" t="t"/>
                <a:pathLst>
                  <a:path extrusionOk="0" h="26490" w="19460">
                    <a:moveTo>
                      <a:pt x="0" y="0"/>
                    </a:moveTo>
                    <a:lnTo>
                      <a:pt x="0" y="24983"/>
                    </a:lnTo>
                    <a:cubicBezTo>
                      <a:pt x="0" y="25820"/>
                      <a:pt x="670" y="26490"/>
                      <a:pt x="1507" y="26490"/>
                    </a:cubicBezTo>
                    <a:lnTo>
                      <a:pt x="17953" y="26490"/>
                    </a:lnTo>
                    <a:cubicBezTo>
                      <a:pt x="18790" y="26490"/>
                      <a:pt x="19459" y="25820"/>
                      <a:pt x="19459" y="24983"/>
                    </a:cubicBezTo>
                    <a:lnTo>
                      <a:pt x="19459" y="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18" name="Google Shape;218;p19"/>
              <p:cNvGrpSpPr/>
              <p:nvPr/>
            </p:nvGrpSpPr>
            <p:grpSpPr>
              <a:xfrm>
                <a:off x="1405624" y="2301079"/>
                <a:ext cx="208705" cy="208705"/>
                <a:chOff x="1430400" y="2325825"/>
                <a:chExt cx="159050" cy="159050"/>
              </a:xfrm>
            </p:grpSpPr>
            <p:sp>
              <p:nvSpPr>
                <p:cNvPr id="219" name="Google Shape;219;p19"/>
                <p:cNvSpPr/>
                <p:nvPr/>
              </p:nvSpPr>
              <p:spPr>
                <a:xfrm>
                  <a:off x="1486900" y="2325825"/>
                  <a:ext cx="46575" cy="159050"/>
                </a:xfrm>
                <a:custGeom>
                  <a:rect b="b" l="l" r="r" t="t"/>
                  <a:pathLst>
                    <a:path extrusionOk="0" h="6362" w="1863">
                      <a:moveTo>
                        <a:pt x="1" y="0"/>
                      </a:moveTo>
                      <a:lnTo>
                        <a:pt x="1" y="6361"/>
                      </a:lnTo>
                      <a:lnTo>
                        <a:pt x="1863" y="6361"/>
                      </a:lnTo>
                      <a:lnTo>
                        <a:pt x="18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" name="Google Shape;220;p19"/>
                <p:cNvSpPr/>
                <p:nvPr/>
              </p:nvSpPr>
              <p:spPr>
                <a:xfrm>
                  <a:off x="1430400" y="2382325"/>
                  <a:ext cx="159050" cy="46575"/>
                </a:xfrm>
                <a:custGeom>
                  <a:rect b="b" l="l" r="r" t="t"/>
                  <a:pathLst>
                    <a:path extrusionOk="0" h="1863" w="6362">
                      <a:moveTo>
                        <a:pt x="1" y="0"/>
                      </a:moveTo>
                      <a:lnTo>
                        <a:pt x="1" y="1862"/>
                      </a:lnTo>
                      <a:lnTo>
                        <a:pt x="6362" y="1862"/>
                      </a:lnTo>
                      <a:lnTo>
                        <a:pt x="636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221" name="Google Shape;221;p19"/>
            <p:cNvCxnSpPr/>
            <p:nvPr/>
          </p:nvCxnSpPr>
          <p:spPr>
            <a:xfrm rot="10800000">
              <a:off x="821713" y="-66750"/>
              <a:ext cx="0" cy="827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9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24" name="Google Shape;224;p20"/>
          <p:cNvGrpSpPr/>
          <p:nvPr/>
        </p:nvGrpSpPr>
        <p:grpSpPr>
          <a:xfrm>
            <a:off x="-334837" y="-1038066"/>
            <a:ext cx="9948100" cy="6810897"/>
            <a:chOff x="-334837" y="-1038066"/>
            <a:chExt cx="9948100" cy="6810897"/>
          </a:xfrm>
        </p:grpSpPr>
        <p:sp>
          <p:nvSpPr>
            <p:cNvPr id="225" name="Google Shape;225;p20"/>
            <p:cNvSpPr/>
            <p:nvPr/>
          </p:nvSpPr>
          <p:spPr>
            <a:xfrm flipH="1">
              <a:off x="8323488" y="4420623"/>
              <a:ext cx="1127845" cy="741937"/>
            </a:xfrm>
            <a:custGeom>
              <a:rect b="b" l="l" r="r" t="t"/>
              <a:pathLst>
                <a:path extrusionOk="0" fill="none" h="46033" w="69760">
                  <a:moveTo>
                    <a:pt x="0" y="0"/>
                  </a:moveTo>
                  <a:lnTo>
                    <a:pt x="0" y="0"/>
                  </a:lnTo>
                  <a:cubicBezTo>
                    <a:pt x="0" y="10755"/>
                    <a:pt x="8726" y="19480"/>
                    <a:pt x="19480" y="19480"/>
                  </a:cubicBezTo>
                  <a:lnTo>
                    <a:pt x="50280" y="19480"/>
                  </a:lnTo>
                  <a:cubicBezTo>
                    <a:pt x="61035" y="19480"/>
                    <a:pt x="69760" y="28205"/>
                    <a:pt x="69760" y="38960"/>
                  </a:cubicBezTo>
                  <a:lnTo>
                    <a:pt x="69760" y="46032"/>
                  </a:lnTo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6" name="Google Shape;226;p20"/>
            <p:cNvGrpSpPr/>
            <p:nvPr/>
          </p:nvGrpSpPr>
          <p:grpSpPr>
            <a:xfrm>
              <a:off x="-334837" y="-123600"/>
              <a:ext cx="741943" cy="946697"/>
              <a:chOff x="-334837" y="-123600"/>
              <a:chExt cx="741943" cy="946697"/>
            </a:xfrm>
          </p:grpSpPr>
          <p:sp>
            <p:nvSpPr>
              <p:cNvPr id="227" name="Google Shape;227;p20"/>
              <p:cNvSpPr/>
              <p:nvPr/>
            </p:nvSpPr>
            <p:spPr>
              <a:xfrm rot="-5400000">
                <a:off x="-171869" y="244122"/>
                <a:ext cx="416007" cy="741943"/>
              </a:xfrm>
              <a:custGeom>
                <a:rect b="b" l="l" r="r" t="t"/>
                <a:pathLst>
                  <a:path extrusionOk="0" fill="none" h="27160" w="16217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cap="rnd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8" name="Google Shape;228;p20"/>
              <p:cNvCxnSpPr/>
              <p:nvPr/>
            </p:nvCxnSpPr>
            <p:spPr>
              <a:xfrm rot="10800000">
                <a:off x="407105" y="-123600"/>
                <a:ext cx="0" cy="530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29" name="Google Shape;229;p20"/>
            <p:cNvGrpSpPr/>
            <p:nvPr/>
          </p:nvGrpSpPr>
          <p:grpSpPr>
            <a:xfrm>
              <a:off x="-52500" y="4322997"/>
              <a:ext cx="876363" cy="1449834"/>
              <a:chOff x="-52500" y="4322997"/>
              <a:chExt cx="876363" cy="1449834"/>
            </a:xfrm>
          </p:grpSpPr>
          <p:sp>
            <p:nvSpPr>
              <p:cNvPr id="230" name="Google Shape;230;p20"/>
              <p:cNvSpPr/>
              <p:nvPr/>
            </p:nvSpPr>
            <p:spPr>
              <a:xfrm rot="10800000">
                <a:off x="407095" y="4322997"/>
                <a:ext cx="416007" cy="741943"/>
              </a:xfrm>
              <a:custGeom>
                <a:rect b="b" l="l" r="r" t="t"/>
                <a:pathLst>
                  <a:path extrusionOk="0" fill="none" h="27160" w="16217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cap="rnd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1" name="Google Shape;231;p20"/>
              <p:cNvCxnSpPr/>
              <p:nvPr/>
            </p:nvCxnSpPr>
            <p:spPr>
              <a:xfrm rot="10800000">
                <a:off x="823863" y="5062131"/>
                <a:ext cx="0" cy="710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20"/>
              <p:cNvCxnSpPr/>
              <p:nvPr/>
            </p:nvCxnSpPr>
            <p:spPr>
              <a:xfrm>
                <a:off x="-52500" y="4323000"/>
                <a:ext cx="459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33" name="Google Shape;233;p20"/>
            <p:cNvGrpSpPr/>
            <p:nvPr/>
          </p:nvGrpSpPr>
          <p:grpSpPr>
            <a:xfrm rot="10800000">
              <a:off x="8736900" y="-1038066"/>
              <a:ext cx="876363" cy="1449834"/>
              <a:chOff x="-52500" y="4322997"/>
              <a:chExt cx="876363" cy="1449834"/>
            </a:xfrm>
          </p:grpSpPr>
          <p:sp>
            <p:nvSpPr>
              <p:cNvPr id="234" name="Google Shape;234;p20"/>
              <p:cNvSpPr/>
              <p:nvPr/>
            </p:nvSpPr>
            <p:spPr>
              <a:xfrm rot="10800000">
                <a:off x="407095" y="4322997"/>
                <a:ext cx="416007" cy="741943"/>
              </a:xfrm>
              <a:custGeom>
                <a:rect b="b" l="l" r="r" t="t"/>
                <a:pathLst>
                  <a:path extrusionOk="0" fill="none" h="27160" w="16217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cap="rnd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5" name="Google Shape;235;p20"/>
              <p:cNvCxnSpPr/>
              <p:nvPr/>
            </p:nvCxnSpPr>
            <p:spPr>
              <a:xfrm rot="10800000">
                <a:off x="823863" y="5062131"/>
                <a:ext cx="0" cy="710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" name="Google Shape;236;p20"/>
              <p:cNvCxnSpPr/>
              <p:nvPr/>
            </p:nvCxnSpPr>
            <p:spPr>
              <a:xfrm>
                <a:off x="-52500" y="4323000"/>
                <a:ext cx="459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65750"/>
            <a:ext cx="852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Rajdhani"/>
              <a:buNone/>
              <a:defRPr b="1" sz="4500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rla"/>
              <a:buChar char="●"/>
              <a:defRPr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3.xml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 txBox="1"/>
          <p:nvPr>
            <p:ph type="ctrTitle"/>
          </p:nvPr>
        </p:nvSpPr>
        <p:spPr>
          <a:xfrm>
            <a:off x="492225" y="611900"/>
            <a:ext cx="5039400" cy="39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/>
              <a:t>P44 - Multimodal VR Simulation with </a:t>
            </a:r>
            <a:r>
              <a:rPr lang="en" sz="5900"/>
              <a:t>Inverse3</a:t>
            </a:r>
            <a:r>
              <a:rPr lang="en" sz="5900"/>
              <a:t> Haptic Device</a:t>
            </a:r>
            <a:endParaRPr sz="5900"/>
          </a:p>
        </p:txBody>
      </p:sp>
      <p:grpSp>
        <p:nvGrpSpPr>
          <p:cNvPr id="242" name="Google Shape;242;p21"/>
          <p:cNvGrpSpPr/>
          <p:nvPr/>
        </p:nvGrpSpPr>
        <p:grpSpPr>
          <a:xfrm>
            <a:off x="5415470" y="8548"/>
            <a:ext cx="2960808" cy="2831549"/>
            <a:chOff x="5415470" y="8548"/>
            <a:chExt cx="2960808" cy="2831549"/>
          </a:xfrm>
        </p:grpSpPr>
        <p:grpSp>
          <p:nvGrpSpPr>
            <p:cNvPr id="243" name="Google Shape;243;p21"/>
            <p:cNvGrpSpPr/>
            <p:nvPr/>
          </p:nvGrpSpPr>
          <p:grpSpPr>
            <a:xfrm>
              <a:off x="5671303" y="8548"/>
              <a:ext cx="1420507" cy="2168700"/>
              <a:chOff x="3499600" y="8562"/>
              <a:chExt cx="1209457" cy="1846488"/>
            </a:xfrm>
          </p:grpSpPr>
          <p:sp>
            <p:nvSpPr>
              <p:cNvPr id="244" name="Google Shape;244;p21"/>
              <p:cNvSpPr/>
              <p:nvPr/>
            </p:nvSpPr>
            <p:spPr>
              <a:xfrm>
                <a:off x="4435403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accen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1"/>
              <p:cNvSpPr/>
              <p:nvPr/>
            </p:nvSpPr>
            <p:spPr>
              <a:xfrm>
                <a:off x="4544703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accen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 flipH="1">
                <a:off x="4156003" y="402400"/>
                <a:ext cx="416007" cy="741943"/>
              </a:xfrm>
              <a:custGeom>
                <a:rect b="b" l="l" r="r" t="t"/>
                <a:pathLst>
                  <a:path extrusionOk="0" fill="none" h="27160" w="16217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cap="rnd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1"/>
              <p:cNvSpPr/>
              <p:nvPr/>
            </p:nvSpPr>
            <p:spPr>
              <a:xfrm flipH="1" rot="10800000">
                <a:off x="3499600" y="1144409"/>
                <a:ext cx="393181" cy="710641"/>
              </a:xfrm>
              <a:custGeom>
                <a:rect b="b" l="l" r="r" t="t"/>
                <a:pathLst>
                  <a:path extrusionOk="0" fill="none" h="27160" w="16217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cap="rnd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8" name="Google Shape;248;p21"/>
              <p:cNvCxnSpPr/>
              <p:nvPr/>
            </p:nvCxnSpPr>
            <p:spPr>
              <a:xfrm>
                <a:off x="3884200" y="1144421"/>
                <a:ext cx="331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49" name="Google Shape;249;p21"/>
            <p:cNvGrpSpPr/>
            <p:nvPr/>
          </p:nvGrpSpPr>
          <p:grpSpPr>
            <a:xfrm>
              <a:off x="5415470" y="1980882"/>
              <a:ext cx="2873774" cy="859215"/>
              <a:chOff x="5675362" y="3258495"/>
              <a:chExt cx="1333476" cy="398652"/>
            </a:xfrm>
          </p:grpSpPr>
          <p:sp>
            <p:nvSpPr>
              <p:cNvPr id="250" name="Google Shape;250;p21"/>
              <p:cNvSpPr/>
              <p:nvPr/>
            </p:nvSpPr>
            <p:spPr>
              <a:xfrm>
                <a:off x="56753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21"/>
              <p:cNvSpPr/>
              <p:nvPr/>
            </p:nvSpPr>
            <p:spPr>
              <a:xfrm>
                <a:off x="60406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1"/>
              <p:cNvSpPr/>
              <p:nvPr/>
            </p:nvSpPr>
            <p:spPr>
              <a:xfrm>
                <a:off x="64059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1"/>
              <p:cNvSpPr/>
              <p:nvPr/>
            </p:nvSpPr>
            <p:spPr>
              <a:xfrm>
                <a:off x="67712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21"/>
            <p:cNvGrpSpPr/>
            <p:nvPr/>
          </p:nvGrpSpPr>
          <p:grpSpPr>
            <a:xfrm>
              <a:off x="5502503" y="1846611"/>
              <a:ext cx="2873774" cy="859215"/>
              <a:chOff x="5675362" y="3258495"/>
              <a:chExt cx="1333476" cy="398652"/>
            </a:xfrm>
          </p:grpSpPr>
          <p:sp>
            <p:nvSpPr>
              <p:cNvPr id="255" name="Google Shape;255;p21"/>
              <p:cNvSpPr/>
              <p:nvPr/>
            </p:nvSpPr>
            <p:spPr>
              <a:xfrm>
                <a:off x="56753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1"/>
              <p:cNvSpPr/>
              <p:nvPr/>
            </p:nvSpPr>
            <p:spPr>
              <a:xfrm>
                <a:off x="60406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1"/>
              <p:cNvSpPr/>
              <p:nvPr/>
            </p:nvSpPr>
            <p:spPr>
              <a:xfrm>
                <a:off x="64059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>
                <a:off x="67712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9" name="Google Shape;259;p21"/>
          <p:cNvSpPr txBox="1"/>
          <p:nvPr/>
        </p:nvSpPr>
        <p:spPr>
          <a:xfrm>
            <a:off x="5248925" y="3344650"/>
            <a:ext cx="3687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Group: </a:t>
            </a: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SOFT3888_TU12_02_P44</a:t>
            </a:r>
            <a:endParaRPr b="1"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Client:</a:t>
            </a:r>
            <a:r>
              <a:rPr b="1"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FMH Media Lab</a:t>
            </a:r>
            <a:endParaRPr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Tutor: </a:t>
            </a: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Islam Alzoubi</a:t>
            </a:r>
            <a:endParaRPr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Tutorial: </a:t>
            </a: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Tuesday 12PM</a:t>
            </a:r>
            <a:endParaRPr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>
            <p:ph type="title"/>
          </p:nvPr>
        </p:nvSpPr>
        <p:spPr>
          <a:xfrm>
            <a:off x="637050" y="109025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002850" y="973875"/>
            <a:ext cx="7293000" cy="3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Progress Overview 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User Stories 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Functional and Non-Functional Requirements 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Deployment Plan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Testing Plan 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Potential Risks 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Improvements 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>
            <p:ph idx="1" type="subTitle"/>
          </p:nvPr>
        </p:nvSpPr>
        <p:spPr>
          <a:xfrm>
            <a:off x="428450" y="1800177"/>
            <a:ext cx="18531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rPr>
              <a:t>Bassam Batch</a:t>
            </a:r>
            <a:endParaRPr b="1">
              <a:solidFill>
                <a:schemeClr val="accent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jdhani"/>
                <a:ea typeface="Rajdhani"/>
                <a:cs typeface="Rajdhani"/>
                <a:sym typeface="Rajdhani"/>
              </a:rPr>
              <a:t>bbat2575 - 310229251</a:t>
            </a:r>
            <a:endParaRPr sz="1700"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71" name="Google Shape;271;p23"/>
          <p:cNvSpPr txBox="1"/>
          <p:nvPr>
            <p:ph idx="1" type="subTitle"/>
          </p:nvPr>
        </p:nvSpPr>
        <p:spPr>
          <a:xfrm>
            <a:off x="428450" y="464950"/>
            <a:ext cx="1853100" cy="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jdhani"/>
                <a:ea typeface="Rajdhani"/>
                <a:cs typeface="Rajdhani"/>
                <a:sym typeface="Rajdhani"/>
              </a:rPr>
              <a:t>3D Modeller</a:t>
            </a:r>
            <a:endParaRPr sz="1700"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272" name="Google Shape;27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424" y="848603"/>
            <a:ext cx="1367150" cy="1024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73" name="Google Shape;273;p23"/>
          <p:cNvSpPr txBox="1"/>
          <p:nvPr>
            <p:ph idx="1" type="subTitle"/>
          </p:nvPr>
        </p:nvSpPr>
        <p:spPr>
          <a:xfrm>
            <a:off x="6642850" y="1811867"/>
            <a:ext cx="18531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rPr>
              <a:t>Catherine Kim</a:t>
            </a:r>
            <a:endParaRPr b="1">
              <a:solidFill>
                <a:schemeClr val="accent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jdhani"/>
                <a:ea typeface="Rajdhani"/>
                <a:cs typeface="Rajdhani"/>
                <a:sym typeface="Rajdhani"/>
              </a:rPr>
              <a:t>ckim4493 - 530319263</a:t>
            </a:r>
            <a:endParaRPr sz="1700"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74" name="Google Shape;274;p23"/>
          <p:cNvSpPr txBox="1"/>
          <p:nvPr>
            <p:ph idx="1" type="subTitle"/>
          </p:nvPr>
        </p:nvSpPr>
        <p:spPr>
          <a:xfrm>
            <a:off x="7016250" y="3923850"/>
            <a:ext cx="18531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rPr>
              <a:t>David Ryder</a:t>
            </a:r>
            <a:endParaRPr b="1">
              <a:solidFill>
                <a:schemeClr val="accent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jdhani"/>
                <a:ea typeface="Rajdhani"/>
                <a:cs typeface="Rajdhani"/>
                <a:sym typeface="Rajdhani"/>
              </a:rPr>
              <a:t>dryd4252 - 530570130</a:t>
            </a:r>
            <a:endParaRPr sz="1700"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75" name="Google Shape;275;p23"/>
          <p:cNvSpPr txBox="1"/>
          <p:nvPr>
            <p:ph idx="1" type="subTitle"/>
          </p:nvPr>
        </p:nvSpPr>
        <p:spPr>
          <a:xfrm>
            <a:off x="4727050" y="3923850"/>
            <a:ext cx="18531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rPr>
              <a:t>Jeslyn Bowman</a:t>
            </a:r>
            <a:endParaRPr b="1">
              <a:solidFill>
                <a:schemeClr val="accent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jdhani"/>
                <a:ea typeface="Rajdhani"/>
                <a:cs typeface="Rajdhani"/>
                <a:sym typeface="Rajdhani"/>
              </a:rPr>
              <a:t>jbow2146 - 530481526</a:t>
            </a:r>
            <a:endParaRPr sz="1700"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76" name="Google Shape;276;p23"/>
          <p:cNvSpPr txBox="1"/>
          <p:nvPr>
            <p:ph idx="1" type="subTitle"/>
          </p:nvPr>
        </p:nvSpPr>
        <p:spPr>
          <a:xfrm>
            <a:off x="2437838" y="3923850"/>
            <a:ext cx="18531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rPr>
              <a:t>Eve Bowyer</a:t>
            </a:r>
            <a:endParaRPr b="1">
              <a:solidFill>
                <a:schemeClr val="accent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jdhani"/>
                <a:ea typeface="Rajdhani"/>
                <a:cs typeface="Rajdhani"/>
                <a:sym typeface="Rajdhani"/>
              </a:rPr>
              <a:t> ebow2770 - 520431443</a:t>
            </a:r>
            <a:endParaRPr sz="1700"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77" name="Google Shape;277;p23"/>
          <p:cNvSpPr txBox="1"/>
          <p:nvPr>
            <p:ph idx="1" type="subTitle"/>
          </p:nvPr>
        </p:nvSpPr>
        <p:spPr>
          <a:xfrm>
            <a:off x="148650" y="3903525"/>
            <a:ext cx="18531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rPr>
              <a:t>Destinee Horvath</a:t>
            </a:r>
            <a:endParaRPr b="1">
              <a:solidFill>
                <a:schemeClr val="accent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ajdhani"/>
                <a:ea typeface="Rajdhani"/>
                <a:cs typeface="Rajdhani"/>
                <a:sym typeface="Rajdhani"/>
              </a:rPr>
              <a:t>dhor0241 - 530490838</a:t>
            </a:r>
            <a:endParaRPr sz="1200"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78" name="Google Shape;278;p23"/>
          <p:cNvSpPr txBox="1"/>
          <p:nvPr>
            <p:ph idx="1" type="subTitle"/>
          </p:nvPr>
        </p:nvSpPr>
        <p:spPr>
          <a:xfrm>
            <a:off x="3806000" y="1808533"/>
            <a:ext cx="18531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rPr>
              <a:t>Samiksha Aveg</a:t>
            </a:r>
            <a:endParaRPr b="1">
              <a:solidFill>
                <a:schemeClr val="accent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jdhani"/>
                <a:ea typeface="Rajdhani"/>
                <a:cs typeface="Rajdhani"/>
                <a:sym typeface="Rajdhani"/>
              </a:rPr>
              <a:t>save8683 - 510574673</a:t>
            </a:r>
            <a:endParaRPr sz="1700"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79" name="Google Shape;279;p23"/>
          <p:cNvSpPr txBox="1"/>
          <p:nvPr>
            <p:ph idx="1" type="subTitle"/>
          </p:nvPr>
        </p:nvSpPr>
        <p:spPr>
          <a:xfrm>
            <a:off x="3370050" y="2574850"/>
            <a:ext cx="21843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jdhani"/>
                <a:ea typeface="Rajdhani"/>
                <a:cs typeface="Rajdhani"/>
                <a:sym typeface="Rajdhani"/>
              </a:rPr>
              <a:t>Hardware Specialists</a:t>
            </a:r>
            <a:endParaRPr sz="1700"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80" name="Google Shape;280;p23"/>
          <p:cNvSpPr txBox="1"/>
          <p:nvPr>
            <p:ph idx="1" type="subTitle"/>
          </p:nvPr>
        </p:nvSpPr>
        <p:spPr>
          <a:xfrm>
            <a:off x="-16950" y="2683775"/>
            <a:ext cx="23721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ajdhani"/>
                <a:ea typeface="Rajdhani"/>
                <a:cs typeface="Rajdhani"/>
                <a:sym typeface="Rajdhani"/>
              </a:rPr>
              <a:t>Instrumentation Engineer</a:t>
            </a:r>
            <a:endParaRPr b="1"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81" name="Google Shape;281;p23"/>
          <p:cNvSpPr txBox="1"/>
          <p:nvPr>
            <p:ph idx="1" type="subTitle"/>
          </p:nvPr>
        </p:nvSpPr>
        <p:spPr>
          <a:xfrm>
            <a:off x="3897173" y="500401"/>
            <a:ext cx="4279800" cy="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jdhani"/>
                <a:ea typeface="Rajdhani"/>
                <a:cs typeface="Rajdhani"/>
                <a:sym typeface="Rajdhani"/>
              </a:rPr>
              <a:t>Level &amp; Audio Engineers</a:t>
            </a:r>
            <a:endParaRPr sz="1700"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282" name="Google Shape;28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2852" y="830106"/>
            <a:ext cx="1853098" cy="104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83" name="Google Shape;28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1773" y="842690"/>
            <a:ext cx="1360317" cy="10429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84" name="Google Shape;284;p23"/>
          <p:cNvSpPr txBox="1"/>
          <p:nvPr>
            <p:ph type="title"/>
          </p:nvPr>
        </p:nvSpPr>
        <p:spPr>
          <a:xfrm>
            <a:off x="2271900" y="-111698"/>
            <a:ext cx="4380600" cy="8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Team</a:t>
            </a:r>
            <a:endParaRPr/>
          </a:p>
        </p:txBody>
      </p:sp>
      <p:pic>
        <p:nvPicPr>
          <p:cNvPr id="285" name="Google Shape;285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22776" y="2986567"/>
            <a:ext cx="883230" cy="10428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86" name="Google Shape;28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01163" y="2986567"/>
            <a:ext cx="883230" cy="10428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87" name="Google Shape;287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1787" y="3123024"/>
            <a:ext cx="1246829" cy="82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88" name="Google Shape;288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30175" y="3123023"/>
            <a:ext cx="1246850" cy="82291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"/>
          <p:cNvSpPr txBox="1"/>
          <p:nvPr>
            <p:ph type="title"/>
          </p:nvPr>
        </p:nvSpPr>
        <p:spPr>
          <a:xfrm>
            <a:off x="713250" y="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Progress Overview</a:t>
            </a:r>
            <a:endParaRPr/>
          </a:p>
        </p:txBody>
      </p:sp>
      <p:sp>
        <p:nvSpPr>
          <p:cNvPr id="294" name="Google Shape;294;p24"/>
          <p:cNvSpPr txBox="1"/>
          <p:nvPr>
            <p:ph idx="4294967295" type="body"/>
          </p:nvPr>
        </p:nvSpPr>
        <p:spPr>
          <a:xfrm>
            <a:off x="354175" y="1060800"/>
            <a:ext cx="4074600" cy="3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jdhani"/>
                <a:ea typeface="Rajdhani"/>
                <a:cs typeface="Rajdhani"/>
                <a:sym typeface="Rajdhani"/>
              </a:rPr>
              <a:t>Deliverables completed:</a:t>
            </a:r>
            <a:endParaRPr b="1">
              <a:latin typeface="Rajdhani"/>
              <a:ea typeface="Rajdhani"/>
              <a:cs typeface="Rajdhani"/>
              <a:sym typeface="Rajdhan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Char char="✓"/>
            </a:pPr>
            <a:r>
              <a:rPr lang="en"/>
              <a:t>Level design and 3D modeling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✓"/>
            </a:pPr>
            <a:r>
              <a:rPr lang="en"/>
              <a:t>Patient breathing animation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✓"/>
            </a:pPr>
            <a:r>
              <a:rPr lang="en"/>
              <a:t>Scene and device integration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✓"/>
            </a:pPr>
            <a:r>
              <a:rPr lang="en"/>
              <a:t>Technical Documentation</a:t>
            </a:r>
            <a:endParaRPr b="1"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4428775" y="1060800"/>
            <a:ext cx="4381500" cy="30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rPr>
              <a:t>Works in progress:</a:t>
            </a:r>
            <a:endParaRPr b="1" sz="1800">
              <a:solidFill>
                <a:schemeClr val="dk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Accurate Inverse 3 force feedback (with calibrated material library)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Positioning Meta Quest 3 (trialling in progress)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Recreate model (arm anatomy + manual animations)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"/>
          <p:cNvSpPr txBox="1"/>
          <p:nvPr>
            <p:ph type="title"/>
          </p:nvPr>
        </p:nvSpPr>
        <p:spPr>
          <a:xfrm>
            <a:off x="713250" y="322375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Non-Functional Requirements</a:t>
            </a:r>
            <a:endParaRPr/>
          </a:p>
        </p:txBody>
      </p:sp>
      <p:graphicFrame>
        <p:nvGraphicFramePr>
          <p:cNvPr id="301" name="Google Shape;301;p25"/>
          <p:cNvGraphicFramePr/>
          <p:nvPr/>
        </p:nvGraphicFramePr>
        <p:xfrm>
          <a:off x="560688" y="14090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{4A68DF69-A8FE-4F34-BF77-8E0B2E2384DE}</a:tableStyleId>
              </a:tblPr>
              <a:tblGrid>
                <a:gridCol w="6021775"/>
                <a:gridCol w="2000850"/>
              </a:tblGrid>
              <a:tr h="2801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600">
                          <a:solidFill>
                            <a:schemeClr val="accent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As a customer…</a:t>
                      </a:r>
                      <a:endParaRPr b="1" i="1" sz="1600">
                        <a:solidFill>
                          <a:schemeClr val="accen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 </a:t>
                      </a:r>
                      <a:r>
                        <a:rPr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the simulation to run smoothly so that users experience responsive VR interactions without lag or jitter.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NFR-01</a:t>
                      </a:r>
                      <a:r>
                        <a:rPr b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Performance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 </a:t>
                      </a:r>
                      <a:r>
                        <a:rPr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an appealing environment that accurately represents a typical medical setting so that users feel immersed in a realistic scenario.</a:t>
                      </a:r>
                      <a:endParaRPr i="1" sz="16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</a:t>
                      </a:r>
                      <a:r>
                        <a:rPr b="1" lang="en" sz="1600">
                          <a:solidFill>
                            <a:schemeClr val="lt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FR-02</a:t>
                      </a:r>
                      <a:r>
                        <a:rPr b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Accuracy + Realism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 </a:t>
                      </a:r>
                      <a:r>
                        <a:rPr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the simulation to be bug-free and properly tested so that users can rely on the system for accurate haptic interactions.</a:t>
                      </a:r>
                      <a:endParaRPr i="1" sz="16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lt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NFR-03</a:t>
                      </a:r>
                      <a:r>
                        <a:rPr b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Usability</a:t>
                      </a:r>
                      <a:endParaRPr b="1" sz="1600">
                        <a:solidFill>
                          <a:schemeClr val="lt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</a:tr>
              <a:tr h="62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</a:t>
                      </a:r>
                      <a:r>
                        <a:rPr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Unity set up with the required SDKs so that my VR–haptic system can be built on a reliable foundation.</a:t>
                      </a:r>
                      <a:endParaRPr i="1" sz="16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lt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NFR-03</a:t>
                      </a:r>
                      <a:r>
                        <a:rPr b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Scalability</a:t>
                      </a:r>
                      <a:endParaRPr b="1" sz="1600">
                        <a:solidFill>
                          <a:schemeClr val="lt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 txBox="1"/>
          <p:nvPr>
            <p:ph type="title"/>
          </p:nvPr>
        </p:nvSpPr>
        <p:spPr>
          <a:xfrm>
            <a:off x="713250" y="88575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Functional requirements</a:t>
            </a:r>
            <a:endParaRPr/>
          </a:p>
        </p:txBody>
      </p:sp>
      <p:graphicFrame>
        <p:nvGraphicFramePr>
          <p:cNvPr id="307" name="Google Shape;307;p26"/>
          <p:cNvGraphicFramePr/>
          <p:nvPr/>
        </p:nvGraphicFramePr>
        <p:xfrm>
          <a:off x="546125" y="11156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{4A68DF69-A8FE-4F34-BF77-8E0B2E2384DE}</a:tableStyleId>
              </a:tblPr>
              <a:tblGrid>
                <a:gridCol w="4778775"/>
                <a:gridCol w="3431750"/>
              </a:tblGrid>
              <a:tr h="3533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600">
                          <a:solidFill>
                            <a:schemeClr val="accent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As a customer…</a:t>
                      </a:r>
                      <a:endParaRPr b="1" i="1" sz="1600">
                        <a:solidFill>
                          <a:schemeClr val="accen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 </a:t>
                      </a:r>
                      <a:r>
                        <a:rPr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the software (Unity) and hardware (VR and haptic device) to work seamlessly </a:t>
                      </a:r>
                      <a:r>
                        <a:rPr b="1"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so that</a:t>
                      </a:r>
                      <a:r>
                        <a:rPr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users can interact with the simulation without technical issues.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FR-01</a:t>
                      </a:r>
                      <a:r>
                        <a:rPr b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Integrate Unity with haptic and VR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 </a:t>
                      </a:r>
                      <a:r>
                        <a:rPr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the haptic device to give realistic feedback </a:t>
                      </a:r>
                      <a:r>
                        <a:rPr b="1"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so that </a:t>
                      </a:r>
                      <a:r>
                        <a:rPr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users can feel the physical properties of virtual materials accurately.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FR-02</a:t>
                      </a:r>
                      <a:r>
                        <a:rPr b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Real-time haptic feedback</a:t>
                      </a:r>
                      <a:endParaRPr sz="16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FR-03</a:t>
                      </a:r>
                      <a:r>
                        <a:rPr b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At least 3 distinct material profiles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78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600">
                          <a:solidFill>
                            <a:schemeClr val="accent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As a developer…</a:t>
                      </a:r>
                      <a:endParaRPr b="1" i="1" sz="1600">
                        <a:solidFill>
                          <a:schemeClr val="accent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62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 </a:t>
                      </a:r>
                      <a:r>
                        <a:rPr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clear documentation </a:t>
                      </a:r>
                      <a:r>
                        <a:rPr b="1"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so that </a:t>
                      </a:r>
                      <a:r>
                        <a:rPr i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can troubleshoot errors, maintain the system, and assist users effectively.</a:t>
                      </a:r>
                      <a:endParaRPr b="1" i="1" sz="1600">
                        <a:solidFill>
                          <a:schemeClr val="dk1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</a:t>
                      </a:r>
                      <a:r>
                        <a:rPr b="1" lang="en" sz="1600">
                          <a:solidFill>
                            <a:schemeClr val="lt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R-04</a:t>
                      </a:r>
                      <a:r>
                        <a:rPr b="1"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 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Technical documentation detailing development process and product set-up instructions</a:t>
                      </a:r>
                      <a:endParaRPr sz="1600">
                        <a:solidFill>
                          <a:schemeClr val="lt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"/>
          <p:cNvSpPr txBox="1"/>
          <p:nvPr>
            <p:ph type="title"/>
          </p:nvPr>
        </p:nvSpPr>
        <p:spPr>
          <a:xfrm>
            <a:off x="646450" y="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Developed User Stories</a:t>
            </a:r>
            <a:endParaRPr/>
          </a:p>
        </p:txBody>
      </p:sp>
      <p:graphicFrame>
        <p:nvGraphicFramePr>
          <p:cNvPr id="313" name="Google Shape;313;p27"/>
          <p:cNvGraphicFramePr/>
          <p:nvPr/>
        </p:nvGraphicFramePr>
        <p:xfrm>
          <a:off x="952500" y="82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{4A68DF69-A8FE-4F34-BF77-8E0B2E2384DE}</a:tableStyleId>
              </a:tblPr>
              <a:tblGrid>
                <a:gridCol w="1239750"/>
                <a:gridCol w="4665625"/>
                <a:gridCol w="1333625"/>
              </a:tblGrid>
              <a:tr h="81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accent4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User Story Number</a:t>
                      </a:r>
                      <a:endParaRPr b="1" sz="1600">
                        <a:solidFill>
                          <a:schemeClr val="accent4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accent4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Description</a:t>
                      </a:r>
                      <a:endParaRPr b="1" sz="1600">
                        <a:solidFill>
                          <a:schemeClr val="accent4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accent4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Status</a:t>
                      </a:r>
                      <a:endParaRPr b="1" sz="1600">
                        <a:solidFill>
                          <a:schemeClr val="accent4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2"/>
                    </a:solidFill>
                  </a:tcPr>
                </a:tc>
              </a:tr>
              <a:tr h="105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Karla"/>
                          <a:ea typeface="Karla"/>
                          <a:cs typeface="Karla"/>
                          <a:sym typeface="Karla"/>
                        </a:rPr>
                        <a:t>US01</a:t>
                      </a:r>
                      <a:endParaRPr b="1" sz="16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Karla"/>
                          <a:ea typeface="Karla"/>
                          <a:cs typeface="Karla"/>
                          <a:sym typeface="Karla"/>
                        </a:rPr>
                        <a:t>As a customer, I want to easily set up driver support for the Meta Quest headset and Inverse3 haptic support.</a:t>
                      </a:r>
                      <a:endParaRPr sz="16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Karla"/>
                          <a:ea typeface="Karla"/>
                          <a:cs typeface="Karla"/>
                          <a:sym typeface="Karla"/>
                        </a:rPr>
                        <a:t>Complete</a:t>
                      </a:r>
                      <a:endParaRPr sz="16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BE2D5"/>
                    </a:solidFill>
                  </a:tcPr>
                </a:tc>
              </a:tr>
              <a:tr h="121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Karla"/>
                          <a:ea typeface="Karla"/>
                          <a:cs typeface="Karla"/>
                          <a:sym typeface="Karla"/>
                        </a:rPr>
                        <a:t>US02</a:t>
                      </a:r>
                      <a:endParaRPr b="1" sz="16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Karla"/>
                          <a:ea typeface="Karla"/>
                          <a:cs typeface="Karla"/>
                          <a:sym typeface="Karla"/>
                        </a:rPr>
                        <a:t>As a customer, I want an appealing environment that accurately represents a typical medical setting so that users feel immersed in a realistic scenario.</a:t>
                      </a:r>
                      <a:endParaRPr sz="16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Karla"/>
                          <a:ea typeface="Karla"/>
                          <a:cs typeface="Karla"/>
                          <a:sym typeface="Karla"/>
                        </a:rPr>
                        <a:t>Complete</a:t>
                      </a:r>
                      <a:endParaRPr sz="16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05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Karla"/>
                          <a:ea typeface="Karla"/>
                          <a:cs typeface="Karla"/>
                          <a:sym typeface="Karla"/>
                        </a:rPr>
                        <a:t>US03</a:t>
                      </a:r>
                      <a:endParaRPr b="1" sz="16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Karla"/>
                          <a:ea typeface="Karla"/>
                          <a:cs typeface="Karla"/>
                          <a:sym typeface="Karla"/>
                        </a:rPr>
                        <a:t>As a customer, I want the software and hardware to work seamlessly so that users can interact with the simulation without technical issues.</a:t>
                      </a:r>
                      <a:endParaRPr sz="16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Karla"/>
                          <a:ea typeface="Karla"/>
                          <a:cs typeface="Karla"/>
                          <a:sym typeface="Karla"/>
                        </a:rPr>
                        <a:t>Complete</a:t>
                      </a:r>
                      <a:endParaRPr sz="16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BE2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/>
          <p:nvPr>
            <p:ph type="title"/>
          </p:nvPr>
        </p:nvSpPr>
        <p:spPr>
          <a:xfrm>
            <a:off x="489750" y="42775"/>
            <a:ext cx="8164500" cy="8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/>
              <a:t>Testing Plan &amp; Acceptance Criteria</a:t>
            </a:r>
            <a:endParaRPr sz="4000"/>
          </a:p>
        </p:txBody>
      </p:sp>
      <p:graphicFrame>
        <p:nvGraphicFramePr>
          <p:cNvPr id="319" name="Google Shape;319;p28"/>
          <p:cNvGraphicFramePr/>
          <p:nvPr/>
        </p:nvGraphicFramePr>
        <p:xfrm>
          <a:off x="952500" y="14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{4A68DF69-A8FE-4F34-BF77-8E0B2E2384DE}</a:tableStyleId>
              </a:tblPr>
              <a:tblGrid>
                <a:gridCol w="1568550"/>
                <a:gridCol w="5670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accent4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Test</a:t>
                      </a:r>
                      <a:endParaRPr b="1" sz="1100">
                        <a:solidFill>
                          <a:schemeClr val="accent4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accent4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Acceptance Criteria</a:t>
                      </a:r>
                      <a:endParaRPr b="1" sz="1100">
                        <a:solidFill>
                          <a:schemeClr val="accent4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Karla"/>
                          <a:ea typeface="Karla"/>
                          <a:cs typeface="Karla"/>
                          <a:sym typeface="Karla"/>
                        </a:rPr>
                        <a:t>Unit &amp; Integration </a:t>
                      </a:r>
                      <a:endParaRPr b="1" sz="12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Unity scripts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Inverse 3 SDK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VR headset communicate correctly.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91425" marB="91425" marR="91425" marL="91425">
                    <a:solidFill>
                      <a:srgbClr val="FBE2D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Karla"/>
                          <a:ea typeface="Karla"/>
                          <a:cs typeface="Karla"/>
                          <a:sym typeface="Karla"/>
                        </a:rPr>
                        <a:t>Performance</a:t>
                      </a:r>
                      <a:endParaRPr b="1" sz="12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Latency &lt;50ms.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Stable frame rates.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No desynchronisation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Karla"/>
                          <a:ea typeface="Karla"/>
                          <a:cs typeface="Karla"/>
                          <a:sym typeface="Karla"/>
                        </a:rPr>
                        <a:t>User</a:t>
                      </a:r>
                      <a:endParaRPr b="1" sz="12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Trials with participants.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91425" marB="91425" marR="91425" marL="91425">
                    <a:solidFill>
                      <a:srgbClr val="FBE2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9"/>
          <p:cNvSpPr txBox="1"/>
          <p:nvPr>
            <p:ph type="title"/>
          </p:nvPr>
        </p:nvSpPr>
        <p:spPr>
          <a:xfrm>
            <a:off x="489750" y="42775"/>
            <a:ext cx="8164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/>
              <a:t>Future Plan</a:t>
            </a:r>
            <a:endParaRPr sz="4000"/>
          </a:p>
        </p:txBody>
      </p:sp>
      <p:sp>
        <p:nvSpPr>
          <p:cNvPr id="325" name="Google Shape;325;p29"/>
          <p:cNvSpPr txBox="1"/>
          <p:nvPr>
            <p:ph idx="4294967295" type="body"/>
          </p:nvPr>
        </p:nvSpPr>
        <p:spPr>
          <a:xfrm>
            <a:off x="951675" y="1241100"/>
            <a:ext cx="7312200" cy="26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Tweaking haptic experience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Accurate material feedback.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Headset hook.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Model animations.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UI (out of bounds, successful and unsuccessful injection).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Adding realism to simulation (sound, extra assets).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0"/>
          <p:cNvSpPr txBox="1"/>
          <p:nvPr>
            <p:ph type="title"/>
          </p:nvPr>
        </p:nvSpPr>
        <p:spPr>
          <a:xfrm>
            <a:off x="713250" y="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Potential Risks</a:t>
            </a:r>
            <a:endParaRPr/>
          </a:p>
        </p:txBody>
      </p:sp>
      <p:sp>
        <p:nvSpPr>
          <p:cNvPr id="331" name="Google Shape;331;p30"/>
          <p:cNvSpPr txBox="1"/>
          <p:nvPr>
            <p:ph idx="4294967295" type="body"/>
          </p:nvPr>
        </p:nvSpPr>
        <p:spPr>
          <a:xfrm>
            <a:off x="951675" y="1241100"/>
            <a:ext cx="7312200" cy="36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Calibration and realism of haptic feedback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Unity and </a:t>
            </a:r>
            <a:r>
              <a:rPr lang="en"/>
              <a:t>Inverse 3</a:t>
            </a:r>
            <a:r>
              <a:rPr lang="en"/>
              <a:t> API integration difficulties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Latency/performance issues in haptic feedback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Limited device access for testing and development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System crashes or instability during demos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Unrealistic material feedback leading to poor user experience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 txBox="1"/>
          <p:nvPr>
            <p:ph type="title"/>
          </p:nvPr>
        </p:nvSpPr>
        <p:spPr>
          <a:xfrm>
            <a:off x="637050" y="109025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Deployment Plan</a:t>
            </a:r>
            <a:endParaRPr/>
          </a:p>
        </p:txBody>
      </p:sp>
      <p:sp>
        <p:nvSpPr>
          <p:cNvPr id="337" name="Google Shape;337;p31"/>
          <p:cNvSpPr txBox="1"/>
          <p:nvPr/>
        </p:nvSpPr>
        <p:spPr>
          <a:xfrm>
            <a:off x="993450" y="1171000"/>
            <a:ext cx="7293000" cy="3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VR simulation with real-time haptic feedback 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Executed on local machine through Unity 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Simulation is designed for the</a:t>
            </a: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Inverse3 Haptic Device and Meta Quest 3 headset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Guide for headset and haptic device connection issues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Documentation provided for setup, usage, and support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/>
          <p:nvPr>
            <p:ph idx="4294967295" type="body"/>
          </p:nvPr>
        </p:nvSpPr>
        <p:spPr>
          <a:xfrm>
            <a:off x="1713975" y="2755950"/>
            <a:ext cx="57162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2"/>
          <p:cNvSpPr txBox="1"/>
          <p:nvPr>
            <p:ph idx="2" type="title"/>
          </p:nvPr>
        </p:nvSpPr>
        <p:spPr>
          <a:xfrm>
            <a:off x="2380300" y="1385875"/>
            <a:ext cx="4124100" cy="2037000"/>
          </a:xfrm>
          <a:prstGeom prst="rect">
            <a:avLst/>
          </a:prstGeom>
          <a:solidFill>
            <a:schemeClr val="accent2"/>
          </a:solidFill>
          <a:effectLst>
            <a:outerShdw blurRad="314325" rotWithShape="0" algn="bl" dir="5400000" dist="666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4"/>
                </a:solidFill>
              </a:rPr>
              <a:t>Demo</a:t>
            </a:r>
            <a:endParaRPr sz="72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ood Transfusion Center Infographics by Slidesgo">
  <a:themeElements>
    <a:clrScheme name="Simple Light">
      <a:dk1>
        <a:srgbClr val="000000"/>
      </a:dk1>
      <a:lt1>
        <a:srgbClr val="EFEFEF"/>
      </a:lt1>
      <a:dk2>
        <a:srgbClr val="EFEFEF"/>
      </a:dk2>
      <a:lt2>
        <a:srgbClr val="B20909"/>
      </a:lt2>
      <a:accent1>
        <a:srgbClr val="850707"/>
      </a:accent1>
      <a:accent2>
        <a:srgbClr val="B20909"/>
      </a:accent2>
      <a:accent3>
        <a:srgbClr val="B20909"/>
      </a:accent3>
      <a:accent4>
        <a:srgbClr val="EFEFEF"/>
      </a:accent4>
      <a:accent5>
        <a:srgbClr val="EFEFE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